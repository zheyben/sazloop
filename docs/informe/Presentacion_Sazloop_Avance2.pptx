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0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dirty="0">
                <a:solidFill>
                  <a:srgbClr val="FFF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800" dirty="0">
                <a:solidFill>
                  <a:srgbClr val="FFF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8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Sazloop · Desarrollo Web Integrado · Segundo avance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rgbClr val="D9ECAB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" y="1051560"/>
            <a:ext cx="438912" cy="0"/>
          </a:xfrm>
          <a:prstGeom prst="line">
            <a:avLst/>
          </a:prstGeom>
          <a:noFill/>
          <a:ln w="38100">
            <a:solidFill>
              <a:srgbClr val="1029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832104"/>
            <a:ext cx="0" cy="438912"/>
          </a:xfrm>
          <a:prstGeom prst="line">
            <a:avLst/>
          </a:prstGeom>
          <a:noFill/>
          <a:ln w="38100">
            <a:solidFill>
              <a:srgbClr val="102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661" y="896381"/>
            <a:ext cx="310358" cy="310358"/>
          </a:xfrm>
          <a:prstGeom prst="line">
            <a:avLst/>
          </a:prstGeom>
          <a:noFill/>
          <a:ln w="38100">
            <a:solidFill>
              <a:srgbClr val="1029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50661" y="896381"/>
            <a:ext cx="310358" cy="310358"/>
          </a:xfrm>
          <a:prstGeom prst="line">
            <a:avLst/>
          </a:prstGeom>
          <a:noFill/>
          <a:ln w="38100">
            <a:solidFill>
              <a:srgbClr val="1029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0" y="8961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200" kern="0" dirty="0">
                <a:solidFill>
                  <a:srgbClr val="D9E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 INTEGRADO · SEGUNDO AVANCE</a:t>
            </a:r>
            <a:endParaRPr lang="en-US" sz="13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640080" y="17373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Sazloop</a:t>
            </a:r>
            <a:endParaRPr lang="en-US" sz="8800" dirty="0"/>
          </a:p>
          <a:p>
            <a:pPr algn="l" indent="0" marL="0">
              <a:buNone/>
            </a:pPr>
            <a:r>
              <a:rPr lang="en-US" sz="8800" dirty="0">
                <a:solidFill>
                  <a:srgbClr val="EFA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37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i="1" dirty="0">
                <a:solidFill>
                  <a:srgbClr val="D9E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bueno sigue fluyendo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6908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mobile-first de packs sorpresa con recojo presencial para Lima Metropolitana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937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9E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asignado N.º 91 — SalvemosLaComida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pic>
        <p:nvPicPr>
          <p:cNvPr id="13" name="Image 0" descr="Logotipo de la Universidad Tecnológica del Per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513832"/>
            <a:ext cx="1773936" cy="87325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788920" y="5577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Profesional de Ingeniería de Sistemas e Informática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– Perú · 2026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685800"/>
            <a:ext cx="3886200" cy="5715000"/>
          </a:xfrm>
          <a:prstGeom prst="roundRect">
            <a:avLst>
              <a:gd name="adj" fmla="val 5882"/>
            </a:avLst>
          </a:prstGeom>
          <a:solidFill>
            <a:srgbClr val="FFFD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01000" y="914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Integrantes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1600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Anthony Espinoza Caso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19293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Módulo: Identidad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01000" y="2386584"/>
            <a:ext cx="3246120" cy="0"/>
          </a:xfrm>
          <a:prstGeom prst="line">
            <a:avLst/>
          </a:prstGeom>
          <a:noFill/>
          <a:ln w="12700">
            <a:solidFill>
              <a:srgbClr val="DEDED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2496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Mirko Daniel Bernuy Sedano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28254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Módulo: Afiliación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01000" y="3282696"/>
            <a:ext cx="3246120" cy="0"/>
          </a:xfrm>
          <a:prstGeom prst="line">
            <a:avLst/>
          </a:prstGeom>
          <a:noFill/>
          <a:ln w="12700">
            <a:solidFill>
              <a:srgbClr val="DEDED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33924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Julián Franco Capillo Delgado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37216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Módulo: Ofertas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001000" y="4178808"/>
            <a:ext cx="3246120" cy="0"/>
          </a:xfrm>
          <a:prstGeom prst="line">
            <a:avLst/>
          </a:prstGeom>
          <a:noFill/>
          <a:ln w="12700">
            <a:solidFill>
              <a:srgbClr val="DEDED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01000" y="42885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Piero Leonardo Guerra Casas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4617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Módulo: Reservas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001000" y="5074920"/>
            <a:ext cx="3246120" cy="0"/>
          </a:xfrm>
          <a:prstGeom prst="line">
            <a:avLst/>
          </a:prstGeom>
          <a:noFill/>
          <a:ln w="12700">
            <a:solidFill>
              <a:srgbClr val="DEDED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01000" y="51846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Jhanpier Alejandro Porras Ipanaque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55138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Módulo: Transacciones y experiencia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Alimentos aptos que se descartan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8696"/>
            </a:avLst>
          </a:prstGeom>
          <a:solidFill>
            <a:srgbClr val="18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D9E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1 050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toneladas de alimentos se desperdiciaron en 2022 [1]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3566160" cy="2103120"/>
          </a:xfrm>
          <a:prstGeom prst="roundRect">
            <a:avLst>
              <a:gd name="adj" fmla="val 8696"/>
            </a:avLst>
          </a:prstGeom>
          <a:solidFill>
            <a:srgbClr val="315C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69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D9E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74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alimentos disponibles para los consumidores en el mundo [1]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600200"/>
            <a:ext cx="7068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Lima Metropolitana, restaurantes, panaderías, cafeterías y supermercados pueden terminar la jornada con productos aptos que no lograron vender. La Ley N.º 30988 promueve en el Perú la reducción y prevención de las pérdidas y desperdicios de alimentos [2].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2971800"/>
            <a:ext cx="2240280" cy="1645920"/>
          </a:xfrm>
          <a:prstGeom prst="roundRect">
            <a:avLst>
              <a:gd name="adj" fmla="val 8333"/>
            </a:avLst>
          </a:prstGeom>
          <a:solidFill>
            <a:srgbClr val="ECF3D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31272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económicas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474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la inversión en ingredientes, preparación, almacenamiento y trabajo.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86016" y="2971800"/>
            <a:ext cx="2240280" cy="1645920"/>
          </a:xfrm>
          <a:prstGeom prst="roundRect">
            <a:avLst>
              <a:gd name="adj" fmla="val 8333"/>
            </a:avLst>
          </a:prstGeom>
          <a:solidFill>
            <a:srgbClr val="ECF3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68896" y="31272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perdidos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68896" y="3474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desperdician los alimentos y los recursos empleados para producirlos.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00032" y="2971800"/>
            <a:ext cx="2240280" cy="1645920"/>
          </a:xfrm>
          <a:prstGeom prst="roundRect">
            <a:avLst>
              <a:gd name="adj" fmla="val 8333"/>
            </a:avLst>
          </a:prstGeom>
          <a:solidFill>
            <a:srgbClr val="ECF3D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82912" y="31272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perdida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582912" y="3474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consumidores no pueden adquirir esos alimentos a menor precio a tiempo.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4800600"/>
            <a:ext cx="7068312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49194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C9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CENTRAL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5193792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descarte de excedentes todavía aptos para el consumo en establecimientos de Lima Metropolitana, por la diferencia entre la oferta preparada y la demanda efectiva y el poco tiempo antes del cierre.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6108192"/>
            <a:ext cx="706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PNUMA, Food Waste Index Report 2024.   [2] Congreso de la República del Perú, Ley N.º 30988.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Sazloop: packs sorpresa con recojo presencial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mobile-first donde los establecimientos publican sus excedentes como packs sorpresa a menor precio y los consumidores los compran y recogen en el local.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24328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79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Afiliación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10128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propietario registra su empresa y sus locales. El administrador revisa los documentos y aprueba o rechaza cada solicitud.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55848" y="2423160"/>
            <a:ext cx="2624328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2651760"/>
            <a:ext cx="457200" cy="457200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8444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78808" y="2679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Oferta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3310128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del local publica una oferta activa con variantes de tamaño, precio, stock y horario de recojo.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63056" y="2423160"/>
            <a:ext cx="2624328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91656" y="2651760"/>
            <a:ext cx="457200" cy="457200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91656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2679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3310128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busca, filtra y paga con pago simulado (tarjeta de débito o Yape) o en efectivo desde el QR del local. Recibe boleta simulada y código único.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70264" y="2423160"/>
            <a:ext cx="2624328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98864" y="2651760"/>
            <a:ext cx="457200" cy="457200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98864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93224" y="2679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Recojo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3310128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valida el código y confirma la entrega. Después, el consumidor puede calificar el pack.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12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C9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CLAVE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2624328" cy="685800"/>
          </a:xfrm>
          <a:prstGeom prst="roundRect">
            <a:avLst>
              <a:gd name="adj" fmla="val 40000"/>
            </a:avLst>
          </a:prstGeom>
          <a:solidFill>
            <a:srgbClr val="ECF3D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486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oferta activa por local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55848" y="5486400"/>
            <a:ext cx="2624328" cy="685800"/>
          </a:xfrm>
          <a:prstGeom prst="roundRect">
            <a:avLst>
              <a:gd name="adj" fmla="val 40000"/>
            </a:avLst>
          </a:prstGeom>
          <a:solidFill>
            <a:srgbClr val="ECF3D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84448" y="5486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Reembolso simulado del 50 % al cancelar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63056" y="5486400"/>
            <a:ext cx="2624328" cy="685800"/>
          </a:xfrm>
          <a:prstGeom prst="roundRect">
            <a:avLst>
              <a:gd name="adj" fmla="val 40000"/>
            </a:avLst>
          </a:prstGeom>
          <a:solidFill>
            <a:srgbClr val="ECF3D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91656" y="5486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de Sazloop: 10 %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970264" y="5486400"/>
            <a:ext cx="2624328" cy="685800"/>
          </a:xfrm>
          <a:prstGeom prst="roundRect">
            <a:avLst>
              <a:gd name="adj" fmla="val 40000"/>
            </a:avLst>
          </a:prstGeom>
          <a:solidFill>
            <a:srgbClr val="ECF3D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98864" y="5486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Suspensión automática si vence un documento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Monolito modular por capas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7276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módulos de negocio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7452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Afiliación, Ofertas, Reservas, Transacciones y Experiencia, más el paquete compartido con las sesiones por rol.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8716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dentro de cada módulo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8892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→ Servicio → Repositorio → Dominio, con DTO para los datos de entrada y salida.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0156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y pantallas en un solo JAR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0332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servicios web en 15 controladores. El mismo Spring Boot sirve el HTML, el CSS y el JavaScript; el frontend no accede a la base de datos.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61688"/>
            <a:ext cx="384048" cy="384048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31596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rol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61772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separadas para persona, cuenta del local y administrador (cookie HttpOnly) y contraseñas con PBKDF2.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384048" cy="384048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23036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los datos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53212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y bloqueo pesimista de la oferta, la reserva y el código de recojo para evitar la sobreventa.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80960" y="1554480"/>
            <a:ext cx="3959352" cy="4572000"/>
          </a:xfrm>
          <a:prstGeom prst="roundRect">
            <a:avLst>
              <a:gd name="adj" fmla="val 4619"/>
            </a:avLst>
          </a:prstGeom>
          <a:solidFill>
            <a:srgbClr val="183A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5528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D9E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257860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2990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317296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4.1.1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35844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376732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(Maven Wrapper)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1788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436168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(Hibernate)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4773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95604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H2 en las pruebas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0" y="53675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555040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y JavaScript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navegador a la base de datos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960120"/>
          </a:xfrm>
          <a:prstGeom prst="roundRect">
            <a:avLst>
              <a:gd name="adj" fmla="val 14286"/>
            </a:avLst>
          </a:prstGeom>
          <a:solidFill>
            <a:srgbClr val="ECF3D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· Frontend (HTML, CSS y JavaScript)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89280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15C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92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público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189280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15C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1892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consumidor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89280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15C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892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trabajador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189280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15C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1892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empresa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189280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15C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1892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administración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0" cy="457200"/>
          </a:xfrm>
          <a:prstGeom prst="line">
            <a:avLst/>
          </a:prstGeom>
          <a:noFill/>
          <a:ln w="25400">
            <a:solidFill>
              <a:srgbClr val="183A2B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309360" y="2542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JSON · API REST (cookie de sesión HttpOnly)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1109167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83A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990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Spring Boot 4.1.1 · Java 21 · monolito modular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337560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83A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3375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REST · 15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3794760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315C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3794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negocio · 25 (@Transactional)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4251960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4C7A5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251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Spring Data JPA · 22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4709160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6F9A7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7091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 dominio · 31  +  DTO · 29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337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C9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6118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CF3D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36118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CF3D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38160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784080" y="36118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CF3D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784080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403250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CF3D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40325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38160" y="403250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CF3D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38160" y="40325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784080" y="403250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CF3D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784080" y="40325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92240" y="4453128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CF3D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92240" y="4453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83880" y="44531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tareas programadas (@Scheduled)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por rol · PBKDF2 · Bean Validation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99048" y="5212080"/>
            <a:ext cx="0" cy="411480"/>
          </a:xfrm>
          <a:prstGeom prst="line">
            <a:avLst/>
          </a:prstGeom>
          <a:noFill/>
          <a:ln w="25400">
            <a:solidFill>
              <a:srgbClr val="183A2B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309360" y="5285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· JDBC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377440" y="5623560"/>
            <a:ext cx="7434072" cy="685800"/>
          </a:xfrm>
          <a:prstGeom prst="roundRect">
            <a:avLst>
              <a:gd name="adj" fmla="val 20000"/>
            </a:avLst>
          </a:prstGeom>
          <a:solidFill>
            <a:srgbClr val="183A2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377440" y="5623560"/>
            <a:ext cx="7434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· MySQL (33 tablas)   |   H2 en memoria (desarrollo y pruebas)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clases de dominio en seis módulos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200" dirty="0"/>
          </a:p>
        </p:txBody>
      </p:sp>
      <p:pic>
        <p:nvPicPr>
          <p:cNvPr id="4" name="Image 0" descr="Diagrama de clases de Saz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824728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5824728" cy="4846320"/>
          </a:xfrm>
          <a:prstGeom prst="rect">
            <a:avLst/>
          </a:prstGeom>
          <a:ln w="12700">
            <a:solidFill>
              <a:srgbClr val="DEDE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1517904"/>
            <a:ext cx="182880" cy="182880"/>
          </a:xfrm>
          <a:prstGeom prst="ellipse">
            <a:avLst/>
          </a:prstGeom>
          <a:solidFill>
            <a:srgbClr val="CC6A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178040" y="146304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· 7 clases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1737360"/>
            <a:ext cx="4462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Consumidor, PropietarioEmpresa, Empresa, Establecimiento, CuentaEstablecimiento, Direccion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0" y="2359152"/>
            <a:ext cx="182880" cy="182880"/>
          </a:xfrm>
          <a:prstGeom prst="ellipse">
            <a:avLst/>
          </a:prstGeom>
          <a:solidFill>
            <a:srgbClr val="4452D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78040" y="230428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 · 6 clases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2578608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SolicitudAfiliacion, DocumentoEstablecimiento, RevisionDocumento, EvaluacionAfiliacion, SuspensionEstablecimiento, AdministradorPlataforma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3346704"/>
            <a:ext cx="182880" cy="182880"/>
          </a:xfrm>
          <a:prstGeom prst="ellipse">
            <a:avLst/>
          </a:prstGeom>
          <a:solidFill>
            <a:srgbClr val="A38F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78040" y="329184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· 5 clases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566160"/>
            <a:ext cx="4462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PackSorpresa, OfertaPack, VariantePack, Alergeno, RestriccionAlimentaria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0" y="4187952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78040" y="413308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· 5 clases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440740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Reserva, DetalleReserva, CodigoRecojo, Recojo, RetencionStock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0" y="4828032"/>
            <a:ext cx="182880" cy="182880"/>
          </a:xfrm>
          <a:prstGeom prst="ellipse">
            <a:avLst/>
          </a:prstGeom>
          <a:solidFill>
            <a:srgbClr val="7A1FA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178040" y="477316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· 5 clases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178040" y="5047488"/>
            <a:ext cx="4462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Pago, BoletaSimulada, CancelacionReserva, Reembolso, ComisionPlataforma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58000" y="5669280"/>
            <a:ext cx="182880" cy="18288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78040" y="56144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· 3 clases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178040" y="588873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Resena, Notificacion, ImpactoCO2Evitado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tablas derivadas de las entidades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ENTIDAD-RELACIÓN</a:t>
            </a:r>
            <a:endParaRPr lang="en-US" sz="1200" dirty="0"/>
          </a:p>
        </p:txBody>
      </p:sp>
      <p:pic>
        <p:nvPicPr>
          <p:cNvPr id="4" name="Image 0" descr="Diagrama entidad-relación de Saz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680960" cy="47274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7680960" cy="4727448"/>
          </a:xfrm>
          <a:prstGeom prst="rect">
            <a:avLst/>
          </a:prstGeom>
          <a:ln w="12700">
            <a:solidFill>
              <a:srgbClr val="DEDED1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0" y="1600200"/>
          <a:ext cx="31363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961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Afiliación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Transacciones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Experiencia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503920" y="4800600"/>
            <a:ext cx="3136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pack_alergenos y pack_restricciones son tablas asociativas: resuelven las dos relaciones muchos a muchos entre packs, alérgenos y restricciones alimentarias.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y módulos del backend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LA APLICACIÓN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web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 y JavaScript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 las pantallas y envía las solicitudes mediante la API REST.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21, Spring Boot 4.1.1 y Maven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las solicitudes, aplica las reglas de negocio y coordina las operaciones.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Módulos internos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Identidad, Afiliación, Ofertas, Reservas, Transacciones, Experiencia y Shared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Organizan las funciones de acuerdo con los requerimientos funcionales.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JPA e Hibernate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 las entidades Java a la base de datos y accede a ella mediante repositorios.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y H2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guarda la información; H2 apoya el desarrollo y las pruebas.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554480"/>
          <a:ext cx="3822192" cy="914400"/>
        </p:xfrm>
        <a:graphic>
          <a:graphicData uri="http://schemas.openxmlformats.org/drawingml/2006/table">
            <a:tbl>
              <a:tblPr/>
              <a:tblGrid>
                <a:gridCol w="1170432"/>
                <a:gridCol w="457200"/>
                <a:gridCol w="457200"/>
                <a:gridCol w="457200"/>
                <a:gridCol w="457200"/>
                <a:gridCol w="411480"/>
                <a:gridCol w="411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Ent.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Ctrl.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Serv.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Repo.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DTO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Afiliación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Transacciones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Experiencia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818120" y="452628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Ent.: entidades · Ctrl.: controladores · Serv.: servicios · Repo.: repositorios · WS: servicios web REST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818120" y="5212080"/>
            <a:ext cx="1810512" cy="914400"/>
          </a:xfrm>
          <a:prstGeom prst="roundRect">
            <a:avLst>
              <a:gd name="adj" fmla="val 15000"/>
            </a:avLst>
          </a:prstGeom>
          <a:solidFill>
            <a:srgbClr val="183A2B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001000" y="5230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D9E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8001000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web REST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829800" y="5212080"/>
            <a:ext cx="1810512" cy="914400"/>
          </a:xfrm>
          <a:prstGeom prst="roundRect">
            <a:avLst>
              <a:gd name="adj" fmla="val 15000"/>
            </a:avLst>
          </a:prstGeom>
          <a:solidFill>
            <a:srgbClr val="183A2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0012680" y="5230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D9E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10012680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programadas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patrones presentes en el código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 APLICADOS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37360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y MVC en REST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677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CompraRecojoController → CompraRecojoService → ReservaRepository.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906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la recepción de solicitudes, las reglas de negocio y el acceso a datos.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93592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737360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884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56048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2677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interfaces JpaRepository, como OfertaPackRepository.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0906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Abstrae el acceso a la base de datos con Spring Data JPA.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593592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1737360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4788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05088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DTO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2677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Java como CompraRequest y CompraResponse (29 clases DTO).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0906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exponer las entidades y valida la entrada con @Valid.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593592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114800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Inyección de dependencias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6451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constructores reciben los servicios y componentes de Spring, como en CuentaLocalController.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4681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acoplamiento entre las capas.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0" y="3931920"/>
            <a:ext cx="3593592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8848" y="4114800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98848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56048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46451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@Builder de Lombok en las entidades, como Recojo.builder().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54681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objetos con muchos campos de forma legible.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46720" y="3931920"/>
            <a:ext cx="3593592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EDE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47888" y="4114800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47888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705088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transaccional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46451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en los servicios: comprarVarios revierte todo el carrito si un pedido falla.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54681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consistencia de las reservas, los pagos y el stock.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pruebas automáticas superadas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 (RESUMEN)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2377440"/>
          </a:xfrm>
          <a:prstGeom prst="roundRect">
            <a:avLst>
              <a:gd name="adj" fmla="val 7692"/>
            </a:avLst>
          </a:prstGeom>
          <a:solidFill>
            <a:srgbClr val="18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dirty="0">
                <a:solidFill>
                  <a:srgbClr val="D9E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 superadas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clases · 0 fallos · 0 errores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01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· BUILD SUCCESS · 12 oct. 2026 · perfil dev (H2)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3383280" cy="2011680"/>
          </a:xfrm>
          <a:prstGeom prst="roundRect">
            <a:avLst>
              <a:gd name="adj" fmla="val 9091"/>
            </a:avLst>
          </a:prstGeom>
          <a:solidFill>
            <a:srgbClr val="ECF3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206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315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15 ms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194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la búsqueda con filtros y de la compra simulada; ninguna pasó de 30 ms (requisito: 3 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715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local, un cliente y H2.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554480"/>
          <a:ext cx="7434072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685800"/>
                <a:gridCol w="43251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de prueba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comprueba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A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SazloopApplicationTests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contexto de Spring Boot inicia con la configuración y las entidades JPA.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SolicitudAfiliacionServiceTests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propietario envía un documento y otra cuenta no puede abrirlo.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FlujoAfp2Tests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Recorrido de documentos a recojo sin sobreventa ni segundo uso del código; cancelación con reembolso del 50 %; efectivo presencial; rechazo con motivo; perfil.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ResolucionYSesionesTests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 de una solicitud en un solo paso; entrega desde el pago con comisión del 10 %; sesiones simultáneas de persona y administrador.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VigenciaYAvisosTests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Suspensión por documento vencido y reactivación al renovar; aviso de cancelación con reembolso.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PortalEmpresaEtapasTests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consultas del portal de empresa responden en cada etapa de la afiliación.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8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3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endParaRPr lang="en-US" sz="12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D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inicio de sesión a la venta y al recojo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UN PROCESO</a:t>
            </a:r>
            <a:endParaRPr lang="en-US" sz="1200" dirty="0"/>
          </a:p>
        </p:txBody>
      </p:sp>
      <p:pic>
        <p:nvPicPr>
          <p:cNvPr id="4" name="Image 0" descr="Inicio de sesión del consumi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478858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1478858" cy="3200400"/>
          </a:xfrm>
          <a:prstGeom prst="rect">
            <a:avLst/>
          </a:prstGeom>
          <a:ln w="12700">
            <a:solidFill>
              <a:srgbClr val="DEDE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937760"/>
            <a:ext cx="310896" cy="310896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4937760"/>
            <a:ext cx="10948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del consumidor</a:t>
            </a:r>
            <a:endParaRPr lang="en-US" sz="1200" dirty="0"/>
          </a:p>
        </p:txBody>
      </p:sp>
      <p:pic>
        <p:nvPicPr>
          <p:cNvPr id="9" name="Image 1" descr="Catálogo filtrado por distrito y prec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598" y="1600200"/>
            <a:ext cx="1478858" cy="3200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75598" y="1600200"/>
            <a:ext cx="1478858" cy="3200400"/>
          </a:xfrm>
          <a:prstGeom prst="rect">
            <a:avLst/>
          </a:prstGeom>
          <a:ln w="12700">
            <a:solidFill>
              <a:srgbClr val="DEDED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175598" y="4937760"/>
            <a:ext cx="310896" cy="310896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175598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559646" y="4937760"/>
            <a:ext cx="10948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filtrado por distrito y precio</a:t>
            </a:r>
            <a:endParaRPr lang="en-US" sz="1200" dirty="0"/>
          </a:p>
        </p:txBody>
      </p:sp>
      <p:pic>
        <p:nvPicPr>
          <p:cNvPr id="14" name="Image 2" descr="Ficha del pack: alérgenos, tamaños y preci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556" y="1600200"/>
            <a:ext cx="1478858" cy="32004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802556" y="1600200"/>
            <a:ext cx="1478858" cy="3200400"/>
          </a:xfrm>
          <a:prstGeom prst="rect">
            <a:avLst/>
          </a:prstGeom>
          <a:ln w="12700">
            <a:solidFill>
              <a:srgbClr val="DEDED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02556" y="4937760"/>
            <a:ext cx="310896" cy="310896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3802556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186604" y="4937760"/>
            <a:ext cx="10948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pack: alérgenos, tamaños y precios</a:t>
            </a:r>
            <a:endParaRPr lang="en-US" sz="1200" dirty="0"/>
          </a:p>
        </p:txBody>
      </p:sp>
      <p:pic>
        <p:nvPicPr>
          <p:cNvPr id="19" name="Image 3" descr="Resumen y pago simulado con Ya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515" y="1600200"/>
            <a:ext cx="1478858" cy="32004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29515" y="1600200"/>
            <a:ext cx="1478858" cy="3200400"/>
          </a:xfrm>
          <a:prstGeom prst="rect">
            <a:avLst/>
          </a:prstGeom>
          <a:ln w="12700">
            <a:solidFill>
              <a:srgbClr val="DEDED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429515" y="4937760"/>
            <a:ext cx="310896" cy="310896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5429515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813563" y="4937760"/>
            <a:ext cx="10948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pago simulado con Yape</a:t>
            </a:r>
            <a:endParaRPr lang="en-US" sz="1200" dirty="0"/>
          </a:p>
        </p:txBody>
      </p:sp>
      <p:pic>
        <p:nvPicPr>
          <p:cNvPr id="24" name="Image 4" descr="Compra confirmada: boleta y código de recoj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6473" y="1600200"/>
            <a:ext cx="1478858" cy="32004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056473" y="1600200"/>
            <a:ext cx="1478858" cy="3200400"/>
          </a:xfrm>
          <a:prstGeom prst="rect">
            <a:avLst/>
          </a:prstGeom>
          <a:ln w="12700">
            <a:solidFill>
              <a:srgbClr val="DEDED1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056473" y="4937760"/>
            <a:ext cx="310896" cy="310896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056473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440521" y="4937760"/>
            <a:ext cx="10948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confirmada: boleta y código de recojo</a:t>
            </a:r>
            <a:endParaRPr lang="en-US" sz="1200" dirty="0"/>
          </a:p>
        </p:txBody>
      </p:sp>
      <p:pic>
        <p:nvPicPr>
          <p:cNvPr id="29" name="Image 5" descr="El local valida el mismo código y confirma la entreg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3431" y="2057400"/>
            <a:ext cx="2956881" cy="27432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8683431" y="2057400"/>
            <a:ext cx="2956881" cy="2743200"/>
          </a:xfrm>
          <a:prstGeom prst="rect">
            <a:avLst/>
          </a:prstGeom>
          <a:ln w="12700">
            <a:solidFill>
              <a:srgbClr val="DEDED1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683431" y="4937760"/>
            <a:ext cx="310896" cy="310896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8683431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9067479" y="4937760"/>
            <a:ext cx="257283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local valida el mismo código y confirma la entrega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la aplicación en ejecución (12 de octubre de 2026) con datos de prueba. Los pagos y las boletas son simulados y no tienen validez tributaria.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costó y lo que sigue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31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Y SIGUIENTES PASOS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63640" y="1417320"/>
            <a:ext cx="5376672" cy="4846320"/>
          </a:xfrm>
          <a:prstGeom prst="roundRect">
            <a:avLst>
              <a:gd name="adj" fmla="val 3774"/>
            </a:avLst>
          </a:prstGeom>
          <a:solidFill>
            <a:srgbClr val="ECF3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8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Siguientes pasos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031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coherencia entre el informe, los diagramas y el código (31 entidades y 33 tablas).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9260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la sobreventa de packs: bloqueos pesimistas y retención temporal del stock en el pago en efectivo.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Suspender y reactivar locales según la vigencia de sus documentos, sin impedir entregar las reservas ya pagadas.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08576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572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sesiones simultáneas de consumidor, local y administrador en un mismo navegador.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31536"/>
            <a:ext cx="347472" cy="347472"/>
          </a:xfrm>
          <a:prstGeom prst="ellipse">
            <a:avLst/>
          </a:prstGeom>
          <a:solidFill>
            <a:srgbClr val="315C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431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3949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H2 en desarrollo y ejecutar sobre MySQL, con un perfil de base de datos distinto para cada caso.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2139696"/>
            <a:ext cx="347472" cy="347472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1031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los módulos del backend y las interfaces del frontend, incluida la vista móvil de los portales internos.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7960" y="2834640"/>
            <a:ext cx="347472" cy="347472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79806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frontend, backend y base de datos, con pruebas funcionales y de integridad.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37960" y="3529584"/>
            <a:ext cx="347472" cy="347472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349300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rendimiento con usuarios simultáneos sobre MySQL.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4224528"/>
            <a:ext cx="347472" cy="347472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1879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la entrega con empresas de delivery, prevista para el avance final.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37960" y="4919472"/>
            <a:ext cx="347472" cy="347472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37960" y="4919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488289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el registro de la ubicación mediante GPS.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37960" y="5614416"/>
            <a:ext cx="347472" cy="347472"/>
          </a:xfrm>
          <a:prstGeom prst="ellipse">
            <a:avLst/>
          </a:prstGeom>
          <a:solidFill>
            <a:srgbClr val="183A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37960" y="5614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55778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D3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informe y los anexos (Javadoc, análisis estático, pruebas funcionales y de penetración) y preparar la demostración final.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7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zloop">
  <a:themeElements>
    <a:clrScheme name="Sazloop">
      <a:dk1>
        <a:srgbClr val="1D3429"/>
      </a:dk1>
      <a:lt1>
        <a:srgbClr val="FFFDF7"/>
      </a:lt1>
      <a:dk2>
        <a:srgbClr val="183A2B"/>
      </a:dk2>
      <a:lt2>
        <a:srgbClr val="F9F5EC"/>
      </a:lt2>
      <a:accent1>
        <a:srgbClr val="315C3D"/>
      </a:accent1>
      <a:accent2>
        <a:srgbClr val="D9ECAB"/>
      </a:accent2>
      <a:accent3>
        <a:srgbClr val="EFAA79"/>
      </a:accent3>
      <a:accent4>
        <a:srgbClr val="C96A39"/>
      </a:accent4>
      <a:accent5>
        <a:srgbClr val="52675C"/>
      </a:accent5>
      <a:accent6>
        <a:srgbClr val="6F9A74"/>
      </a:accent6>
      <a:hlink>
        <a:srgbClr val="315C3D"/>
      </a:hlink>
      <a:folHlink>
        <a:srgbClr val="52675C"/>
      </a:folHlink>
    </a:clrScheme>
    <a:fontScheme name="Sazlo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UTP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Sazloop — Segundo avance</dc:title>
  <dc:subject>Desarrollo Web Integrado · Proyecto N.º 91 — SalvemosLaComida</dc:subject>
  <dc:creator>Equipo Sazloop</dc:creator>
  <cp:lastModifiedBy>Equipo Sazloop</cp:lastModifiedBy>
  <cp:revision>1</cp:revision>
  <dcterms:created xsi:type="dcterms:W3CDTF">2026-10-12T21:18:19Z</dcterms:created>
  <dcterms:modified xsi:type="dcterms:W3CDTF">2026-10-12T21:18:19Z</dcterms:modified>
</cp:coreProperties>
</file>