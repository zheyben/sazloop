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9699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0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73736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800" dirty="0">
                <a:solidFill>
                  <a:srgbClr val="FFF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8800" dirty="0">
                <a:solidFill>
                  <a:srgbClr val="FFFD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8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Sazloop · Desarrollo Web Integrado · Segundo avance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85800"/>
            <a:ext cx="731520" cy="731520"/>
          </a:xfrm>
          <a:prstGeom prst="ellipse">
            <a:avLst/>
          </a:prstGeom>
          <a:solidFill>
            <a:srgbClr val="D9ECA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786384" y="1051560"/>
            <a:ext cx="438912" cy="0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1005840" y="832104"/>
            <a:ext cx="0" cy="438912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50661" y="896381"/>
            <a:ext cx="310358" cy="310358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 flipV="1">
            <a:off x="850661" y="896381"/>
            <a:ext cx="310358" cy="310358"/>
          </a:xfrm>
          <a:prstGeom prst="line">
            <a:avLst/>
          </a:prstGeom>
          <a:noFill/>
          <a:ln w="38100">
            <a:solidFill>
              <a:srgbClr val="10291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1600200" y="8961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kern="0" spc="200" dirty="0">
                <a:solidFill>
                  <a:srgbClr val="D9E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WEB INTEGRADO · SEGUNDO AVANCE</a:t>
            </a:r>
            <a:endParaRPr lang="en-US" sz="1300" dirty="0"/>
          </a:p>
        </p:txBody>
      </p:sp>
      <p:sp>
        <p:nvSpPr>
          <p:cNvPr id="8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737360"/>
            <a:ext cx="616616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800" dirty="0">
                <a:solidFill>
                  <a:srgbClr val="FFF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Sazloop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37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i="1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bueno sigue fluyendo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69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mobile-first de packs sorpresa con recojo </a:t>
            </a:r>
            <a:r>
              <a:rPr lang="en-US" sz="2000" dirty="0" err="1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presencial</a:t>
            </a:r>
            <a:r>
              <a:rPr lang="en-US" sz="20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Lima Metropolitana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D9E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asignado N.º 91 — SalvemosLaComida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548640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pic>
        <p:nvPicPr>
          <p:cNvPr id="13" name="Image 0" descr="Logotipo de la Universidad Tecnológica del Perú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513832"/>
            <a:ext cx="1773936" cy="87325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788920" y="5577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Carrera Profesional de Ingeniería de Sistemas e Informática</a:t>
            </a:r>
            <a:endParaRPr lang="en-US" sz="13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Lima – Perú · 2026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432962"/>
            <a:ext cx="3886200" cy="2816525"/>
          </a:xfrm>
          <a:prstGeom prst="roundRect">
            <a:avLst>
              <a:gd name="adj" fmla="val 5882"/>
            </a:avLst>
          </a:prstGeom>
          <a:solidFill>
            <a:srgbClr val="FFFDF7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 txBox="1"/>
          <p:nvPr/>
        </p:nvSpPr>
        <p:spPr>
          <a:xfrm>
            <a:off x="8001000" y="366156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Integrantes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420459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Emanuel Anthony Espinoza Caso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001000" y="4527481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 txBox="1"/>
          <p:nvPr/>
        </p:nvSpPr>
        <p:spPr>
          <a:xfrm>
            <a:off x="8001000" y="4610466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Mirko Daniel Bernuy Sedano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001000" y="4930506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501349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Julián Franco Capillo Delgado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001000" y="5337153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 txBox="1"/>
          <p:nvPr/>
        </p:nvSpPr>
        <p:spPr>
          <a:xfrm>
            <a:off x="8001000" y="541936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Piero Leonardo Guerra Casas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001000" y="5739402"/>
            <a:ext cx="3246120" cy="0"/>
          </a:xfrm>
          <a:prstGeom prst="line">
            <a:avLst/>
          </a:prstGeom>
          <a:noFill/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 txBox="1"/>
          <p:nvPr/>
        </p:nvSpPr>
        <p:spPr>
          <a:xfrm>
            <a:off x="8001000" y="582161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Jhanpier Alejandro Porras Ipanaque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Alimentos aptos que se descartan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2103120"/>
          </a:xfrm>
          <a:prstGeom prst="roundRect">
            <a:avLst>
              <a:gd name="adj" fmla="val 8696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1 050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millones de toneladas de alimentos se desperdiciaron en 2022 [1]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3566160" cy="2103120"/>
          </a:xfrm>
          <a:prstGeom prst="roundRect">
            <a:avLst>
              <a:gd name="adj" fmla="val 8696"/>
            </a:avLst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alimentos disponibles para los consumidores en el mundo [1]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600200"/>
            <a:ext cx="7068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Lima Metropolitana, restaurantes, panaderías, cafeterías y supermercados pueden terminar la jornada con productos aptos que no lograron vender. La Ley N.º 30988 promueve en el Perú la reducción y prevención de las pérdidas y desperdicios de alimentos [2].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4754880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económicas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 la inversión en ingredientes, preparación, almacenamiento y trabajo.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86016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 txBox="1"/>
          <p:nvPr/>
        </p:nvSpPr>
        <p:spPr>
          <a:xfrm>
            <a:off x="7168896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perdidos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desperdician los alimentos y los recursos empleados para producirlos.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400032" y="2971800"/>
            <a:ext cx="2240280" cy="1645920"/>
          </a:xfrm>
          <a:prstGeom prst="roundRect">
            <a:avLst>
              <a:gd name="adj" fmla="val 8333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9582912" y="312724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perdida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2912" y="3474720"/>
            <a:ext cx="1874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consumidores no pueden adquirir esos alimentos a menor precio a tiempo.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4800600"/>
            <a:ext cx="7068312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4800600" y="491947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2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CENTRAL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5193792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descarte de excedentes todavía aptos para el consumo en establecimientos de Lima Metropolitana, por la diferencia entre la oferta preparada y la demanda efectiva y el poco tiempo antes del cierre.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6108192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PNUMA, Food Waste Index Report 2024.   [2] Congreso de la República del Perú, Ley N.º 30988.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Sazloop: packs sorpresa con recojo presencial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plataforma web mobile-first donde los establecimientos publican sus excedentes como packs sorpresa a menor precio y los consumidores los compran y recogen en el local.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77240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Afiliación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propietario registra su empresa y sus locales. El administrador revisa los documentos y aprueba o rechaza cada solicitud.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55848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3584448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3584448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178808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Oferta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del local publica una oferta activa con variantes de tamaño, precio, stock y horario de recojo.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63056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391656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6391656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busca, filtra y paga con pago simulado (tarjeta de débito o Yape) o en efectivo desde el QR del local. Recibe boleta simulada y código único.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70264" y="2423160"/>
            <a:ext cx="2624328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9"/>
          <p:cNvSpPr/>
          <p:nvPr/>
        </p:nvSpPr>
        <p:spPr>
          <a:xfrm>
            <a:off x="9198864" y="2651760"/>
            <a:ext cx="457200" cy="457200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 txBox="1"/>
          <p:nvPr/>
        </p:nvSpPr>
        <p:spPr>
          <a:xfrm>
            <a:off x="9198864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93224" y="2679192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Recojo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198864" y="3310128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valida el código y confirma la entrega. Después, el consumidor puede calificar el pack.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212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2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CLAVE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 txBox="1"/>
          <p:nvPr/>
        </p:nvSpPr>
        <p:spPr>
          <a:xfrm>
            <a:off x="777240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oferta activa por local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55848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3584448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Reembolso simulado del 50 % al cancelar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63056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 txBox="1"/>
          <p:nvPr/>
        </p:nvSpPr>
        <p:spPr>
          <a:xfrm>
            <a:off x="6391656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 Sazloop: 10 %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970264" y="5486400"/>
            <a:ext cx="2624328" cy="685800"/>
          </a:xfrm>
          <a:prstGeom prst="roundRect">
            <a:avLst>
              <a:gd name="adj" fmla="val 4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 txBox="1"/>
          <p:nvPr/>
        </p:nvSpPr>
        <p:spPr>
          <a:xfrm>
            <a:off x="9198864" y="5486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automática si vence un documento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Monolito modular por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5486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5727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módulos de negocio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8745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Afiliación, Ofertas, Reservas, Transacciones y Experiencia, más el paquete compartido con las sesiones por rol.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4871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dentro de cada módulo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889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→ Servicio → Repositorio → Dominio, con DTO para los datos de entrada y salida.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472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54864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015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y pantallas en un solo JAR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033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servicios web en 15 controladores. El mismo Spring Boot sirve el HTML, el CSS y el JavaScript; el frontend no accede a la base de datos.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616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548640" y="4361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59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por rol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6177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separadas para persona, cuenta del local y administrador (cookie HttpOnly) y contraseñas con PBKDF2.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76088"/>
            <a:ext cx="384048" cy="384048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5486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230368"/>
            <a:ext cx="6172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 de los datos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532120"/>
            <a:ext cx="6172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y bloqueo pesimista de la oferta, la reserva y el código de recojo para evitar la sobreventa.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0" y="1554480"/>
            <a:ext cx="3959352" cy="4572000"/>
          </a:xfrm>
          <a:prstGeom prst="roundRect">
            <a:avLst>
              <a:gd name="adj" fmla="val 4619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7955280" y="17373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23957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257860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955280" y="29900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317296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4.1.1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955280" y="35844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955280" y="376732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(Maven Wrapper)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1788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36168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 (Hibernate)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4773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955280" y="495604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H2 en las pruebas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955280" y="53675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B9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955280" y="5550408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y JavaScript</a:t>
            </a:r>
            <a:endParaRPr lang="en-US" sz="16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navegador a la base de datos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ARQUITECTURA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960120"/>
          </a:xfrm>
          <a:prstGeom prst="roundRect">
            <a:avLst>
              <a:gd name="adj" fmla="val 14286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777240" y="157276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· Frontend (HTML, CSS y JavaScript)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 txBox="1"/>
          <p:nvPr/>
        </p:nvSpPr>
        <p:spPr>
          <a:xfrm>
            <a:off x="77724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público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8036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 txBox="1"/>
          <p:nvPr/>
        </p:nvSpPr>
        <p:spPr>
          <a:xfrm>
            <a:off x="288036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consumidor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98348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498348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trabajador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660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 txBox="1"/>
          <p:nvPr/>
        </p:nvSpPr>
        <p:spPr>
          <a:xfrm>
            <a:off x="708660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empresa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89720" y="1892808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315C3D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 txBox="1"/>
          <p:nvPr/>
        </p:nvSpPr>
        <p:spPr>
          <a:xfrm>
            <a:off x="9189720" y="18928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administración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99048" y="2468880"/>
            <a:ext cx="0" cy="457200"/>
          </a:xfrm>
          <a:prstGeom prst="line">
            <a:avLst/>
          </a:prstGeom>
          <a:noFill/>
          <a:ln w="25400">
            <a:solidFill>
              <a:srgbClr val="183A2B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6309360" y="25420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· JSON · API REST (cookie de sesión HttpOnly)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11091672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3A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 txBox="1"/>
          <p:nvPr/>
        </p:nvSpPr>
        <p:spPr>
          <a:xfrm>
            <a:off x="777240" y="299008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· Spring Boot 4.1.1 · Java 21 · monolito modular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33375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 txBox="1"/>
          <p:nvPr/>
        </p:nvSpPr>
        <p:spPr>
          <a:xfrm>
            <a:off x="914400" y="33375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 REST · 15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" y="37947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914400" y="37947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negocio · 25 (@Transactional)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2519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4C7A55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 txBox="1"/>
          <p:nvPr/>
        </p:nvSpPr>
        <p:spPr>
          <a:xfrm>
            <a:off x="914400" y="42519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Spring Data JPA · 22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4709160"/>
            <a:ext cx="5394960" cy="384048"/>
          </a:xfrm>
          <a:prstGeom prst="roundRect">
            <a:avLst>
              <a:gd name="adj" fmla="val 19048"/>
            </a:avLst>
          </a:prstGeom>
          <a:solidFill>
            <a:srgbClr val="6F9A74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5"/>
          <p:cNvSpPr txBox="1"/>
          <p:nvPr/>
        </p:nvSpPr>
        <p:spPr>
          <a:xfrm>
            <a:off x="914400" y="47091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 dominio · 31  +  DTO · 29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337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b="1" kern="0" spc="100" dirty="0">
                <a:solidFill>
                  <a:srgbClr val="C96A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 txBox="1"/>
          <p:nvPr/>
        </p:nvSpPr>
        <p:spPr>
          <a:xfrm>
            <a:off x="649224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3816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 txBox="1"/>
          <p:nvPr/>
        </p:nvSpPr>
        <p:spPr>
          <a:xfrm>
            <a:off x="813816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784080" y="36118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4" name="Text 32"/>
          <p:cNvSpPr txBox="1"/>
          <p:nvPr/>
        </p:nvSpPr>
        <p:spPr>
          <a:xfrm>
            <a:off x="9784080" y="36118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49224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6" name="Text 34"/>
          <p:cNvSpPr txBox="1"/>
          <p:nvPr/>
        </p:nvSpPr>
        <p:spPr>
          <a:xfrm>
            <a:off x="649224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816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 txBox="1"/>
          <p:nvPr/>
        </p:nvSpPr>
        <p:spPr>
          <a:xfrm>
            <a:off x="813816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784080" y="40325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0" name="Text 38"/>
          <p:cNvSpPr txBox="1"/>
          <p:nvPr/>
        </p:nvSpPr>
        <p:spPr>
          <a:xfrm>
            <a:off x="9784080" y="40325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92240" y="445312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2" name="Text 40"/>
          <p:cNvSpPr txBox="1"/>
          <p:nvPr/>
        </p:nvSpPr>
        <p:spPr>
          <a:xfrm>
            <a:off x="6492240" y="445312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183880" y="44531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tareas programadas (@Scheduled)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92240" y="4846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por rol · PBKDF2 · Bean Validation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099048" y="5212080"/>
            <a:ext cx="0" cy="411480"/>
          </a:xfrm>
          <a:prstGeom prst="line">
            <a:avLst/>
          </a:prstGeom>
          <a:noFill/>
          <a:ln w="25400">
            <a:solidFill>
              <a:srgbClr val="183A2B"/>
            </a:solidFill>
            <a:prstDash val="solid"/>
            <a:tailEnd type="triangle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4"/>
          <p:cNvSpPr txBox="1"/>
          <p:nvPr/>
        </p:nvSpPr>
        <p:spPr>
          <a:xfrm>
            <a:off x="6309360" y="5285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/ Hibernate · JDBC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377440" y="5623560"/>
            <a:ext cx="7434072" cy="685800"/>
          </a:xfrm>
          <a:prstGeom prst="roundRect">
            <a:avLst>
              <a:gd name="adj" fmla="val 20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8" name="Text 46"/>
          <p:cNvSpPr txBox="1"/>
          <p:nvPr/>
        </p:nvSpPr>
        <p:spPr>
          <a:xfrm>
            <a:off x="2377440" y="5623560"/>
            <a:ext cx="7434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· MySQL (33 tablas)   |   H2 en memoria (desarrollo y pruebas)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 clases de dominio en seis módulos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824728" cy="484632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6858000" y="1517904"/>
            <a:ext cx="182880" cy="182880"/>
          </a:xfrm>
          <a:prstGeom prst="ellipse">
            <a:avLst/>
          </a:prstGeom>
          <a:solidFill>
            <a:srgbClr val="CC6A0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 txBox="1"/>
          <p:nvPr/>
        </p:nvSpPr>
        <p:spPr>
          <a:xfrm>
            <a:off x="7178040" y="1463040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· 7 clases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1737360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Usuario, Consumidor, PropietarioEmpresa, Empresa, Establecimiento, CuentaEstablecimiento, Direccion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359152"/>
            <a:ext cx="182880" cy="182880"/>
          </a:xfrm>
          <a:prstGeom prst="ellipse">
            <a:avLst/>
          </a:prstGeom>
          <a:solidFill>
            <a:srgbClr val="4452D6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 txBox="1"/>
          <p:nvPr/>
        </p:nvSpPr>
        <p:spPr>
          <a:xfrm>
            <a:off x="7178040" y="230428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· 6 clases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2578608"/>
            <a:ext cx="4462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SolicitudAfiliacion, DocumentoEstablecimiento, RevisionDocumento, EvaluacionAfiliacion, SuspensionEstablecimiento, AdministradorPlataforma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0" y="3346704"/>
            <a:ext cx="182880" cy="182880"/>
          </a:xfrm>
          <a:prstGeom prst="ellipse">
            <a:avLst/>
          </a:prstGeom>
          <a:solidFill>
            <a:srgbClr val="A38F0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 txBox="1"/>
          <p:nvPr/>
        </p:nvSpPr>
        <p:spPr>
          <a:xfrm>
            <a:off x="7178040" y="3291840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· 5 clases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3566160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PackSorpresa, OfertaPack, VariantePack, Alergeno, RestriccionAlimentaria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0" y="418795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 txBox="1"/>
          <p:nvPr/>
        </p:nvSpPr>
        <p:spPr>
          <a:xfrm>
            <a:off x="7178040" y="413308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· 5 clases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440740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Reserva, DetalleReserva, CodigoRecojo, Recojo, RetencionStock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58000" y="4828032"/>
            <a:ext cx="182880" cy="182880"/>
          </a:xfrm>
          <a:prstGeom prst="ellipse">
            <a:avLst/>
          </a:prstGeom>
          <a:solidFill>
            <a:srgbClr val="7A1FA2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 txBox="1"/>
          <p:nvPr/>
        </p:nvSpPr>
        <p:spPr>
          <a:xfrm>
            <a:off x="7178040" y="4773168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5 clases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5047488"/>
            <a:ext cx="4462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Pago, BoletaSimulada, CancelacionReserva, Reembolso, ComisionPlataforma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0" y="5669280"/>
            <a:ext cx="182880" cy="182880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19"/>
          <p:cNvSpPr txBox="1"/>
          <p:nvPr/>
        </p:nvSpPr>
        <p:spPr>
          <a:xfrm>
            <a:off x="7178040" y="5614416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8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· 3 clases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178040" y="5888736"/>
            <a:ext cx="4462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Resena, Notificacion, ImpactoCO2Evitado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4" name="Gráfico 11">
            <a:extLst>
              <a:ext uri="{FF2B5EF4-FFF2-40B4-BE49-F238E27FC236}">
                <a16:creationId xmlns:a16="http://schemas.microsoft.com/office/drawing/2014/main" id="{71B86C75-FE67-2A60-A56E-086383D463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356" y="1433639"/>
            <a:ext cx="5801012" cy="48300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tablas derivadas de las entidades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ENTIDAD-RELACIÓN</a:t>
            </a:r>
            <a:endParaRPr lang="en-US" sz="1200" dirty="0"/>
          </a:p>
        </p:txBody>
      </p:sp>
      <p:pic>
        <p:nvPicPr>
          <p:cNvPr id="4" name="Image 0" descr="Diagrama entidad-relación de Saz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7680960" cy="47274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7680960" cy="4727448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3920" y="1600200"/>
          <a:ext cx="3136392" cy="299008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Entidades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Afiliación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Transacciones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503920" y="480060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pack_alergenos y pack_restricciones son tablas asociativas: resuelven las dos relaciones muchos a muchos entre packs, alérgenos y restricciones alimentarias.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y módulos del backend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LA APLICACIÓN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415137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 web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HTML, CSS y JavaScript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 las pantallas y envía las solicitudes mediante la API REST.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21, Spring Boot 4.1.1 y Maven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 las solicitudes, aplica las reglas de negocio y coordina las operaciones.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Módulos internos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Identidad, Afiliación, Ofertas, Reservas, Transacciones, Experiencia y Shared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Organizan las funciones de acuerdo con los requerimientos funcionales.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Data JPA e Hibernate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Mapea las entidades Java a la base de datos y accede a ella mediante repositorios.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y H2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guarda la información; H2 apoya el desarrollo y las pruebas.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554480"/>
          <a:ext cx="3822192" cy="281635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Repo.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DTO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Afiliación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Transacciones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Experiencia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00" dirty="0"/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818120" y="452628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Ent.: entidades · Ctrl.: controladores · Serv.: servicios · Repo.: repositorios · WS: servicios web REST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818120" y="5212080"/>
            <a:ext cx="1810512" cy="914400"/>
          </a:xfrm>
          <a:prstGeom prst="roundRect">
            <a:avLst>
              <a:gd name="adj" fmla="val 15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4"/>
          <p:cNvSpPr txBox="1"/>
          <p:nvPr/>
        </p:nvSpPr>
        <p:spPr>
          <a:xfrm>
            <a:off x="8001000" y="52303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3200" dirty="0"/>
          </a:p>
        </p:txBody>
      </p:sp>
      <p:sp>
        <p:nvSpPr>
          <p:cNvPr id="4" name="Text 5"/>
          <p:cNvSpPr txBox="1"/>
          <p:nvPr/>
        </p:nvSpPr>
        <p:spPr>
          <a:xfrm>
            <a:off x="8001000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web REST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829800" y="5212080"/>
            <a:ext cx="1810512" cy="914400"/>
          </a:xfrm>
          <a:prstGeom prst="roundRect">
            <a:avLst>
              <a:gd name="adj" fmla="val 15000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7"/>
          <p:cNvSpPr txBox="1"/>
          <p:nvPr/>
        </p:nvSpPr>
        <p:spPr>
          <a:xfrm>
            <a:off x="10012680" y="52303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10012680" y="5760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programadas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patrones presentes en el código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 DISEÑO APLICADOS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 y MVC en REST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CompraRecojoController → CompraRecojoService → ReservaRepository.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 la recepción de solicitudes, las reglas de negocio y el acceso a datos.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449884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 txBox="1"/>
          <p:nvPr/>
        </p:nvSpPr>
        <p:spPr>
          <a:xfrm>
            <a:off x="449884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95604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interfaces JpaRepository, como OfertaPackRepository.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Abstrae el acceso a la base de datos con Spring Data JPA.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Shape 15"/>
          <p:cNvSpPr/>
          <p:nvPr/>
        </p:nvSpPr>
        <p:spPr>
          <a:xfrm>
            <a:off x="8247888" y="173736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 txBox="1"/>
          <p:nvPr/>
        </p:nvSpPr>
        <p:spPr>
          <a:xfrm>
            <a:off x="8247888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70508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DTO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26771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Java como CompraRequest y CompraResponse (29 clases DTO).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0906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exponer las entidades y valida la entrada con @Valid.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Shape 21"/>
          <p:cNvSpPr/>
          <p:nvPr/>
        </p:nvSpPr>
        <p:spPr>
          <a:xfrm>
            <a:off x="74980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4" name="Text 22"/>
          <p:cNvSpPr txBox="1"/>
          <p:nvPr/>
        </p:nvSpPr>
        <p:spPr>
          <a:xfrm>
            <a:off x="74980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0700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Inyección de dependencias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constructores reciben los servicios y componentes de Spring, como en CuentaLocalController.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el acoplamiento entre las capas.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9768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27"/>
          <p:cNvSpPr/>
          <p:nvPr/>
        </p:nvSpPr>
        <p:spPr>
          <a:xfrm>
            <a:off x="449884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0" name="Text 28"/>
          <p:cNvSpPr txBox="1"/>
          <p:nvPr/>
        </p:nvSpPr>
        <p:spPr>
          <a:xfrm>
            <a:off x="449884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5604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Builder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2628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@Builder de Lombok en las entidades, como Recojo.builder().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2628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objetos con muchos campos de forma legible.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046720" y="3931920"/>
            <a:ext cx="3593592" cy="224028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3"/>
          <p:cNvSpPr/>
          <p:nvPr/>
        </p:nvSpPr>
        <p:spPr>
          <a:xfrm>
            <a:off x="8247888" y="4114800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6" name="Text 34"/>
          <p:cNvSpPr txBox="1"/>
          <p:nvPr/>
        </p:nvSpPr>
        <p:spPr>
          <a:xfrm>
            <a:off x="8247888" y="4114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705088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Servicio transaccional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8275320" y="4645152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 en los servicios: comprarVarios revierte todo el carrito si un pedido falla.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546811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 la consistencia de las reservas, los pagos y el stock.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pruebas automáticas superadas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FUNCIONALES (RESUMEN)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83280" cy="2377440"/>
          </a:xfrm>
          <a:prstGeom prst="roundRect">
            <a:avLst>
              <a:gd name="adj" fmla="val 7692"/>
            </a:avLst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200" dirty="0">
                <a:solidFill>
                  <a:srgbClr val="D9EC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automáticas superadas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clases · 0 fallos · 0 errores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101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E5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· BUILD SUCCESS · 12 oct. 2026 · perfil dev (H2)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114800"/>
            <a:ext cx="3383280" cy="2011680"/>
          </a:xfrm>
          <a:prstGeom prst="roundRect">
            <a:avLst>
              <a:gd name="adj" fmla="val 9091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dirty="0">
                <a:solidFill>
                  <a:srgbClr val="315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15 ms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91947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la búsqueda con filtros y de la compra simulada; ninguna pasó de 30 ms (requisito: 3 s)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715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local, un cliente y H2.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1554480"/>
          <a:ext cx="7434072" cy="4483608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de prueba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comprueba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A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SazloopApplicationTests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contexto de Spring Boot inicia con la configuración y las entidades JPA.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SolicitudAfiliacionServiceTests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propietario envía un documento y otra cuenta no puede abrirlo.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FlujoAfp2Tests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Recorrido de documentos a recojo sin sobreventa ni segundo uso del código; cancelación con reembolso del 50 %; efectivo presencial; rechazo con motivo; perfil.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ResolucionYSesionesTests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Resolución de una solicitud en un solo paso; entrega desde el pago con comisión del 10 %; sesiones simultáneas de persona y administrador.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VigenciaYAvisosTests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Suspensión por documento vencido y reactivación al renovar; aviso de cancelación con reembolso.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PortalEmpresaEtapasTests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consultas del portal de empresa responden en cada etapa de la afiliación.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83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D3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endParaRPr lang="en-US" sz="1200" dirty="0"/>
                    </a:p>
                  </a:txBody>
                  <a:tcPr marL="88900" marR="88900" marT="38100" marB="38100" anchor="ctr">
                    <a:lnL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3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inicio de sesión a la venta y al recojo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UN PROCESO</a:t>
            </a:r>
            <a:endParaRPr lang="en-US" sz="1200" dirty="0"/>
          </a:p>
        </p:txBody>
      </p:sp>
      <p:pic>
        <p:nvPicPr>
          <p:cNvPr id="4" name="Image 0" descr="Inicio de sesión del consumid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478858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3"/>
          <p:cNvSpPr/>
          <p:nvPr/>
        </p:nvSpPr>
        <p:spPr>
          <a:xfrm>
            <a:off x="548640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 txBox="1"/>
          <p:nvPr/>
        </p:nvSpPr>
        <p:spPr>
          <a:xfrm>
            <a:off x="548640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 del consumidor</a:t>
            </a:r>
            <a:endParaRPr lang="en-US" sz="1200" dirty="0"/>
          </a:p>
        </p:txBody>
      </p:sp>
      <p:pic>
        <p:nvPicPr>
          <p:cNvPr id="9" name="Image 1" descr="Catálogo filtrado por distrito y pre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598" y="1600200"/>
            <a:ext cx="1478858" cy="3200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75598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7"/>
          <p:cNvSpPr/>
          <p:nvPr/>
        </p:nvSpPr>
        <p:spPr>
          <a:xfrm>
            <a:off x="2175598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8"/>
          <p:cNvSpPr txBox="1"/>
          <p:nvPr/>
        </p:nvSpPr>
        <p:spPr>
          <a:xfrm>
            <a:off x="2175598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559646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filtrado por distrito y precio</a:t>
            </a:r>
            <a:endParaRPr lang="en-US" sz="1200" dirty="0"/>
          </a:p>
        </p:txBody>
      </p:sp>
      <p:pic>
        <p:nvPicPr>
          <p:cNvPr id="14" name="Image 2" descr="Ficha del pack: alérgenos, tamaños y preci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2556" y="1600200"/>
            <a:ext cx="1478858" cy="32004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3802556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1"/>
          <p:cNvSpPr/>
          <p:nvPr/>
        </p:nvSpPr>
        <p:spPr>
          <a:xfrm>
            <a:off x="3802556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2"/>
          <p:cNvSpPr txBox="1"/>
          <p:nvPr/>
        </p:nvSpPr>
        <p:spPr>
          <a:xfrm>
            <a:off x="3802556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186604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pack: alérgenos, tamaños y precios</a:t>
            </a:r>
            <a:endParaRPr lang="en-US" sz="1200" dirty="0"/>
          </a:p>
        </p:txBody>
      </p:sp>
      <p:pic>
        <p:nvPicPr>
          <p:cNvPr id="19" name="Image 3" descr="Resumen y pago simulado con Yap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515" y="1600200"/>
            <a:ext cx="1478858" cy="32004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429515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Shape 15"/>
          <p:cNvSpPr/>
          <p:nvPr/>
        </p:nvSpPr>
        <p:spPr>
          <a:xfrm>
            <a:off x="5429515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16"/>
          <p:cNvSpPr txBox="1"/>
          <p:nvPr/>
        </p:nvSpPr>
        <p:spPr>
          <a:xfrm>
            <a:off x="5429515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813563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y pago simulado con Yape</a:t>
            </a:r>
            <a:endParaRPr lang="en-US" sz="1200" dirty="0"/>
          </a:p>
        </p:txBody>
      </p:sp>
      <p:pic>
        <p:nvPicPr>
          <p:cNvPr id="24" name="Image 4" descr="Compra confirmada: boleta y código de recoj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6473" y="1600200"/>
            <a:ext cx="1478858" cy="32004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7056473" y="1600200"/>
            <a:ext cx="1478858" cy="32004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Shape 19"/>
          <p:cNvSpPr/>
          <p:nvPr/>
        </p:nvSpPr>
        <p:spPr>
          <a:xfrm>
            <a:off x="7056473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Text 20"/>
          <p:cNvSpPr txBox="1"/>
          <p:nvPr/>
        </p:nvSpPr>
        <p:spPr>
          <a:xfrm>
            <a:off x="7056473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440521" y="4937760"/>
            <a:ext cx="109481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confirmada: boleta y código de recojo</a:t>
            </a:r>
            <a:endParaRPr lang="en-US" sz="1200" dirty="0"/>
          </a:p>
        </p:txBody>
      </p:sp>
      <p:pic>
        <p:nvPicPr>
          <p:cNvPr id="29" name="Image 5" descr="El local valida el mismo código y confirma la entrega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3431" y="2057400"/>
            <a:ext cx="2956881" cy="2743200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683431" y="2057400"/>
            <a:ext cx="2956881" cy="2743200"/>
          </a:xfrm>
          <a:prstGeom prst="rect">
            <a:avLst/>
          </a:prstGeom>
          <a:ln w="12700">
            <a:solidFill>
              <a:srgbClr val="DEDED1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3"/>
          <p:cNvSpPr/>
          <p:nvPr/>
        </p:nvSpPr>
        <p:spPr>
          <a:xfrm>
            <a:off x="8683431" y="4937760"/>
            <a:ext cx="310896" cy="310896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24"/>
          <p:cNvSpPr txBox="1"/>
          <p:nvPr/>
        </p:nvSpPr>
        <p:spPr>
          <a:xfrm>
            <a:off x="8683431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9067479" y="4937760"/>
            <a:ext cx="257283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local valida el mismo código y confirma la entrega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26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aplicación en ejecución (12 de octubre de 2026) con datos de prueba. Los pagos y las boletas son simulados y no tienen validez tributaria.</a:t>
            </a:r>
            <a:endParaRPr lang="en-US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dirty="0">
                <a:solidFill>
                  <a:srgbClr val="102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costó y lo que sigue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8404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kern="0" spc="200" dirty="0">
                <a:solidFill>
                  <a:srgbClr val="315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Y SIGUIENTES PASOS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Dificultades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263640" y="1417320"/>
            <a:ext cx="5376672" cy="4846320"/>
          </a:xfrm>
          <a:prstGeom prst="roundRect">
            <a:avLst>
              <a:gd name="adj" fmla="val 3774"/>
            </a:avLst>
          </a:prstGeom>
          <a:solidFill>
            <a:srgbClr val="ECF3D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 txBox="1"/>
          <p:nvPr/>
        </p:nvSpPr>
        <p:spPr>
          <a:xfrm>
            <a:off x="6537960" y="1508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183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Siguientes pasos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213969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 txBox="1"/>
          <p:nvPr/>
        </p:nvSpPr>
        <p:spPr>
          <a:xfrm>
            <a:off x="54864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1031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coherencia entre el informe, los diagramas y el código (31 entidades y 33 tablas).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6265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 txBox="1"/>
          <p:nvPr/>
        </p:nvSpPr>
        <p:spPr>
          <a:xfrm>
            <a:off x="5486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260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la sobreventa de packs: bloqueos pesimistas y retención temporal del stock en el pago en efectivo.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 txBox="1"/>
          <p:nvPr/>
        </p:nvSpPr>
        <p:spPr>
          <a:xfrm>
            <a:off x="548640" y="3785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Suspender y reactivar locales según la vigencia de sus documentos, sin impedir entregar las reservas ya pagadas.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60857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 txBox="1"/>
          <p:nvPr/>
        </p:nvSpPr>
        <p:spPr>
          <a:xfrm>
            <a:off x="548640" y="4608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720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Manejar sesiones simultáneas de consumidor, local y administrador en un mismo navegador.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431536"/>
            <a:ext cx="347472" cy="347472"/>
          </a:xfrm>
          <a:prstGeom prst="ellipse">
            <a:avLst/>
          </a:prstGeom>
          <a:solidFill>
            <a:srgbClr val="315C3D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 txBox="1"/>
          <p:nvPr/>
        </p:nvSpPr>
        <p:spPr>
          <a:xfrm>
            <a:off x="548640" y="5431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539496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con H2 en desarrollo y ejecutar sobre MySQL, con un perfil de base de datos distinto para cada caso.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37960" y="2139696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 txBox="1"/>
          <p:nvPr/>
        </p:nvSpPr>
        <p:spPr>
          <a:xfrm>
            <a:off x="6537960" y="2139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40880" y="21031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los módulos del backend y las interfaces del frontend, incluida la vista móvil de los portales internos.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37960" y="2834640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 txBox="1"/>
          <p:nvPr/>
        </p:nvSpPr>
        <p:spPr>
          <a:xfrm>
            <a:off x="6537960" y="2834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2798064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frontend, backend y base de datos, con pruebas funcionales y de integridad.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37960" y="3529584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 txBox="1"/>
          <p:nvPr/>
        </p:nvSpPr>
        <p:spPr>
          <a:xfrm>
            <a:off x="653796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349300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el rendimiento con usuarios simultáneos sobre MySQL.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37960" y="4224528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 txBox="1"/>
          <p:nvPr/>
        </p:nvSpPr>
        <p:spPr>
          <a:xfrm>
            <a:off x="6537960" y="4224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40880" y="4187952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la entrega con empresas de delivery, prevista para el avance final.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537960" y="4919472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 txBox="1"/>
          <p:nvPr/>
        </p:nvSpPr>
        <p:spPr>
          <a:xfrm>
            <a:off x="6537960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488289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Investigar el registro de la ubicación mediante GPS.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37960" y="5614416"/>
            <a:ext cx="347472" cy="347472"/>
          </a:xfrm>
          <a:prstGeom prst="ellipse">
            <a:avLst/>
          </a:prstGeom>
          <a:solidFill>
            <a:srgbClr val="183A2B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8" name="Text 36"/>
          <p:cNvSpPr txBox="1"/>
          <p:nvPr/>
        </p:nvSpPr>
        <p:spPr>
          <a:xfrm>
            <a:off x="6537960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55778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1D3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informe y los anexos (Javadoc, análisis estático, pruebas funcionales y de penetración) y preparar la demostración final.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4652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2675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zloop">
  <a:themeElements>
    <a:clrScheme name="Sazloop">
      <a:dk1>
        <a:srgbClr val="1D3429"/>
      </a:dk1>
      <a:lt1>
        <a:srgbClr val="FFFDF7"/>
      </a:lt1>
      <a:dk2>
        <a:srgbClr val="183A2B"/>
      </a:dk2>
      <a:lt2>
        <a:srgbClr val="F9F5EC"/>
      </a:lt2>
      <a:accent1>
        <a:srgbClr val="315C3D"/>
      </a:accent1>
      <a:accent2>
        <a:srgbClr val="D9ECAB"/>
      </a:accent2>
      <a:accent3>
        <a:srgbClr val="EFAA79"/>
      </a:accent3>
      <a:accent4>
        <a:srgbClr val="C96A39"/>
      </a:accent4>
      <a:accent5>
        <a:srgbClr val="52675C"/>
      </a:accent5>
      <a:accent6>
        <a:srgbClr val="6F9A74"/>
      </a:accent6>
      <a:hlink>
        <a:srgbClr val="315C3D"/>
      </a:hlink>
      <a:folHlink>
        <a:srgbClr val="52675C"/>
      </a:folHlink>
    </a:clrScheme>
    <a:fontScheme name="Sazloo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1772</Words>
  <Application>Microsoft Office PowerPoint</Application>
  <PresentationFormat>Panorámica</PresentationFormat>
  <Paragraphs>349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Sazloop</vt:lpstr>
      <vt:lpstr>Sazloop</vt:lpstr>
      <vt:lpstr>Alimentos aptos que se descartan</vt:lpstr>
      <vt:lpstr>Sazloop: packs sorpresa con recojo presencial</vt:lpstr>
      <vt:lpstr>Monolito modular por capas</vt:lpstr>
      <vt:lpstr>Del navegador a la base de datos</vt:lpstr>
      <vt:lpstr>31 clases de dominio en seis módulos</vt:lpstr>
      <vt:lpstr>33 tablas derivadas de las entidades</vt:lpstr>
      <vt:lpstr>Componentes y módulos del backend</vt:lpstr>
      <vt:lpstr>Seis patrones presentes en el código</vt:lpstr>
      <vt:lpstr>11 pruebas automáticas superadas</vt:lpstr>
      <vt:lpstr>Del inicio de sesión a la venta y al recojo</vt:lpstr>
      <vt:lpstr>Lo que costó y lo que sigue</vt:lpstr>
    </vt:vector>
  </TitlesOfParts>
  <Company>UTP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Sazloop — Segundo avance</dc:title>
  <dc:subject>Desarrollo Web Integrado · Proyecto N.º 91 — SalvemosLaComida</dc:subject>
  <dc:creator>Equipo Sazloop</dc:creator>
  <cp:lastModifiedBy>ALUMNO - EMANUEL ANTHONY ESPINOZA CASO</cp:lastModifiedBy>
  <cp:revision>3</cp:revision>
  <dcterms:created xsi:type="dcterms:W3CDTF">2026-10-12T21:18:19Z</dcterms:created>
  <dcterms:modified xsi:type="dcterms:W3CDTF">2026-10-13T00:16:13Z</dcterms:modified>
</cp:coreProperties>
</file>