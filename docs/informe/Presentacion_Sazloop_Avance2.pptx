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11" d="100"/>
          <a:sy n="111" d="100"/>
        </p:scale>
        <p:origin x="55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296992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ORTADA">
    <p:bg>
      <p:bgPr>
        <a:solidFill>
          <a:srgbClr val="1029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640080" y="1737360"/>
            <a:ext cx="676656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8800" dirty="0">
                <a:solidFill>
                  <a:srgbClr val="FFFD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marL="0" indent="0" algn="l">
              <a:buNone/>
            </a:pPr>
            <a:r>
              <a:rPr lang="en-US" sz="8800" dirty="0">
                <a:solidFill>
                  <a:srgbClr val="FFFD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Título</a:t>
            </a:r>
            <a:endParaRPr lang="en-US" sz="8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solidFill>
          <a:srgbClr val="FFFD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658368"/>
            <a:ext cx="11091672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200" dirty="0">
                <a:solidFill>
                  <a:srgbClr val="1029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marL="0" indent="0" algn="l">
              <a:buNone/>
            </a:pPr>
            <a:r>
              <a:rPr lang="en-US" sz="3200" dirty="0">
                <a:solidFill>
                  <a:srgbClr val="1029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Título</a:t>
            </a: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26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Sazloop · Desarrollo Web Integrado · Segundo avance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4652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52675C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4652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52675C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685800"/>
            <a:ext cx="731520" cy="731520"/>
          </a:xfrm>
          <a:prstGeom prst="ellipse">
            <a:avLst/>
          </a:prstGeom>
          <a:solidFill>
            <a:srgbClr val="D9ECAB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786384" y="1051560"/>
            <a:ext cx="438912" cy="0"/>
          </a:xfrm>
          <a:prstGeom prst="line">
            <a:avLst/>
          </a:prstGeom>
          <a:noFill/>
          <a:ln w="38100">
            <a:solidFill>
              <a:srgbClr val="10291F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" name="Shape 2"/>
          <p:cNvSpPr/>
          <p:nvPr/>
        </p:nvSpPr>
        <p:spPr>
          <a:xfrm>
            <a:off x="1005840" y="832104"/>
            <a:ext cx="0" cy="438912"/>
          </a:xfrm>
          <a:prstGeom prst="line">
            <a:avLst/>
          </a:prstGeom>
          <a:noFill/>
          <a:ln w="38100">
            <a:solidFill>
              <a:srgbClr val="10291F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" name="Shape 3"/>
          <p:cNvSpPr/>
          <p:nvPr/>
        </p:nvSpPr>
        <p:spPr>
          <a:xfrm>
            <a:off x="850661" y="896381"/>
            <a:ext cx="310358" cy="310358"/>
          </a:xfrm>
          <a:prstGeom prst="line">
            <a:avLst/>
          </a:prstGeom>
          <a:noFill/>
          <a:ln w="38100">
            <a:solidFill>
              <a:srgbClr val="10291F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Shape 4"/>
          <p:cNvSpPr/>
          <p:nvPr/>
        </p:nvSpPr>
        <p:spPr>
          <a:xfrm flipV="1">
            <a:off x="850661" y="896381"/>
            <a:ext cx="310358" cy="310358"/>
          </a:xfrm>
          <a:prstGeom prst="line">
            <a:avLst/>
          </a:prstGeom>
          <a:noFill/>
          <a:ln w="38100">
            <a:solidFill>
              <a:srgbClr val="10291F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" name="Text 5"/>
          <p:cNvSpPr txBox="1"/>
          <p:nvPr/>
        </p:nvSpPr>
        <p:spPr>
          <a:xfrm>
            <a:off x="1600200" y="896112"/>
            <a:ext cx="5852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00" b="1" kern="0" spc="200" dirty="0">
                <a:solidFill>
                  <a:srgbClr val="D9EC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DESARROLLO WEB INTEGRADO · SEGUNDO AVANCE</a:t>
            </a:r>
            <a:endParaRPr lang="en-US" sz="1300" dirty="0"/>
          </a:p>
        </p:txBody>
      </p:sp>
      <p:sp>
        <p:nvSpPr>
          <p:cNvPr id="8" name="Text 0"/>
          <p:cNvSpPr>
            <a:spLocks noGrp="1"/>
          </p:cNvSpPr>
          <p:nvPr>
            <p:ph type="title" idx="100" hasCustomPrompt="1"/>
          </p:nvPr>
        </p:nvSpPr>
        <p:spPr>
          <a:xfrm>
            <a:off x="640080" y="1737360"/>
            <a:ext cx="616616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8800" dirty="0">
                <a:solidFill>
                  <a:srgbClr val="FFF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Sazloop</a:t>
            </a:r>
            <a:endParaRPr lang="en-US" sz="88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333756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800" i="1" dirty="0">
                <a:solidFill>
                  <a:srgbClr val="D9ECA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 bueno sigue fluyendo</a:t>
            </a:r>
            <a:endParaRPr lang="en-US" sz="28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4069080"/>
            <a:ext cx="6583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000" dirty="0">
                <a:solidFill>
                  <a:srgbClr val="E5E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Plataforma web mobile-first de packs sorpresa con recojo </a:t>
            </a:r>
            <a:r>
              <a:rPr lang="en-US" sz="2000" dirty="0" err="1">
                <a:solidFill>
                  <a:srgbClr val="E5E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presencial</a:t>
            </a:r>
            <a:r>
              <a:rPr lang="en-US" sz="2000" dirty="0">
                <a:solidFill>
                  <a:srgbClr val="E5E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para Lima Metropolitana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4937760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500" dirty="0">
                <a:solidFill>
                  <a:srgbClr val="D9EC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asignado N.º 91 — SalvemosLaComida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40080" y="5486400"/>
            <a:ext cx="192024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es-PE"/>
          </a:p>
        </p:txBody>
      </p:sp>
      <p:pic>
        <p:nvPicPr>
          <p:cNvPr id="13" name="Image 0" descr="Logotipo de la Universidad Tecnológica del Perú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" y="5513832"/>
            <a:ext cx="1773936" cy="873252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2788920" y="557784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300" dirty="0">
                <a:solidFill>
                  <a:srgbClr val="E5E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Carrera Profesional de Ingeniería de Sistemas e Informática</a:t>
            </a:r>
            <a:endParaRPr lang="en-US" sz="1300" dirty="0"/>
          </a:p>
          <a:p>
            <a:pPr marL="0" indent="0" algn="l">
              <a:lnSpc>
                <a:spcPct val="100000"/>
              </a:lnSpc>
              <a:buNone/>
            </a:pPr>
            <a:r>
              <a:rPr lang="en-US" sz="1300" dirty="0">
                <a:solidFill>
                  <a:srgbClr val="E5E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Lima – Perú · 2026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7680960" y="685800"/>
            <a:ext cx="3886200" cy="5715000"/>
          </a:xfrm>
          <a:prstGeom prst="roundRect">
            <a:avLst>
              <a:gd name="adj" fmla="val 5882"/>
            </a:avLst>
          </a:prstGeom>
          <a:solidFill>
            <a:srgbClr val="FFFDF7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16" name="Text 13"/>
          <p:cNvSpPr txBox="1"/>
          <p:nvPr/>
        </p:nvSpPr>
        <p:spPr>
          <a:xfrm>
            <a:off x="8001000" y="91440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400" dirty="0">
                <a:solidFill>
                  <a:srgbClr val="183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Integrantes</a:t>
            </a:r>
            <a:endParaRPr lang="en-US" sz="2400" dirty="0"/>
          </a:p>
        </p:txBody>
      </p:sp>
      <p:sp>
        <p:nvSpPr>
          <p:cNvPr id="17" name="Text 14"/>
          <p:cNvSpPr txBox="1"/>
          <p:nvPr/>
        </p:nvSpPr>
        <p:spPr>
          <a:xfrm>
            <a:off x="8001000" y="1600200"/>
            <a:ext cx="3429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D3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Emanuel Anthony Espinoza Caso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8001000" y="1929384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00" dirty="0">
                <a:solidFill>
                  <a:srgbClr val="315C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Módulo: Identidad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8001000" y="2386584"/>
            <a:ext cx="3246120" cy="0"/>
          </a:xfrm>
          <a:prstGeom prst="line">
            <a:avLst/>
          </a:prstGeom>
          <a:noFill/>
          <a:ln w="12700">
            <a:solidFill>
              <a:srgbClr val="DEDED1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0" name="Text 17"/>
          <p:cNvSpPr txBox="1"/>
          <p:nvPr/>
        </p:nvSpPr>
        <p:spPr>
          <a:xfrm>
            <a:off x="8001000" y="2496312"/>
            <a:ext cx="3429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D3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Mirko Daniel Bernuy Sedano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8001000" y="2825496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00" dirty="0">
                <a:solidFill>
                  <a:srgbClr val="315C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Módulo: Afiliación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8001000" y="3282696"/>
            <a:ext cx="3246120" cy="0"/>
          </a:xfrm>
          <a:prstGeom prst="line">
            <a:avLst/>
          </a:prstGeom>
          <a:noFill/>
          <a:ln w="12700">
            <a:solidFill>
              <a:srgbClr val="DEDED1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3" name="Text 20"/>
          <p:cNvSpPr txBox="1"/>
          <p:nvPr/>
        </p:nvSpPr>
        <p:spPr>
          <a:xfrm>
            <a:off x="8001000" y="3392424"/>
            <a:ext cx="3429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D3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Peter Julián Franco Capillo Delgado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8001000" y="3721608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00" dirty="0">
                <a:solidFill>
                  <a:srgbClr val="315C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Módulo: Ofertas</a:t>
            </a:r>
            <a:endParaRPr lang="en-US" sz="1300" dirty="0"/>
          </a:p>
        </p:txBody>
      </p:sp>
      <p:sp>
        <p:nvSpPr>
          <p:cNvPr id="25" name="Shape 22"/>
          <p:cNvSpPr/>
          <p:nvPr/>
        </p:nvSpPr>
        <p:spPr>
          <a:xfrm>
            <a:off x="8001000" y="4178808"/>
            <a:ext cx="3246120" cy="0"/>
          </a:xfrm>
          <a:prstGeom prst="line">
            <a:avLst/>
          </a:prstGeom>
          <a:noFill/>
          <a:ln w="12700">
            <a:solidFill>
              <a:srgbClr val="DEDED1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6" name="Text 23"/>
          <p:cNvSpPr txBox="1"/>
          <p:nvPr/>
        </p:nvSpPr>
        <p:spPr>
          <a:xfrm>
            <a:off x="8001000" y="4288536"/>
            <a:ext cx="3429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D3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Piero Leonardo Guerra Casas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8001000" y="4617720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00" dirty="0">
                <a:solidFill>
                  <a:srgbClr val="315C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Módulo: Reservas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8001000" y="5074920"/>
            <a:ext cx="3246120" cy="0"/>
          </a:xfrm>
          <a:prstGeom prst="line">
            <a:avLst/>
          </a:prstGeom>
          <a:noFill/>
          <a:ln w="12700">
            <a:solidFill>
              <a:srgbClr val="DEDED1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9" name="Text 26"/>
          <p:cNvSpPr txBox="1"/>
          <p:nvPr/>
        </p:nvSpPr>
        <p:spPr>
          <a:xfrm>
            <a:off x="8001000" y="5184648"/>
            <a:ext cx="3429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D3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Jhanpier Alejandro Porras Ipanaque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8001000" y="5513832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00" dirty="0">
                <a:solidFill>
                  <a:srgbClr val="315C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Módulo: Transacciones y experiencia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658368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200" dirty="0">
                <a:solidFill>
                  <a:srgbClr val="1029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Alimentos aptos que se descartan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84048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200" b="1" kern="0" spc="200" dirty="0">
                <a:solidFill>
                  <a:srgbClr val="315C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PROBLEMA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3566160" cy="2103120"/>
          </a:xfrm>
          <a:prstGeom prst="roundRect">
            <a:avLst>
              <a:gd name="adj" fmla="val 8696"/>
            </a:avLst>
          </a:prstGeom>
          <a:solidFill>
            <a:srgbClr val="183A2B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5" name="Text 3"/>
          <p:cNvSpPr txBox="1"/>
          <p:nvPr/>
        </p:nvSpPr>
        <p:spPr>
          <a:xfrm>
            <a:off x="822960" y="178308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6000" dirty="0">
                <a:solidFill>
                  <a:srgbClr val="D9ECA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1 050</a:t>
            </a:r>
            <a:endParaRPr lang="en-US" sz="6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788920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millones de toneladas de alimentos se desperdiciaron en 2022 [1]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48640" y="3886200"/>
            <a:ext cx="3566160" cy="2103120"/>
          </a:xfrm>
          <a:prstGeom prst="roundRect">
            <a:avLst>
              <a:gd name="adj" fmla="val 8696"/>
            </a:avLst>
          </a:prstGeom>
          <a:solidFill>
            <a:srgbClr val="315C3D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8" name="Text 6"/>
          <p:cNvSpPr txBox="1"/>
          <p:nvPr/>
        </p:nvSpPr>
        <p:spPr>
          <a:xfrm>
            <a:off x="822960" y="406908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6000" dirty="0">
                <a:solidFill>
                  <a:srgbClr val="D9ECA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19 %</a:t>
            </a:r>
            <a:endParaRPr lang="en-US" sz="60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5074920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los alimentos disponibles para los consumidores en el mundo [1]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4572000" y="1600200"/>
            <a:ext cx="706831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600" dirty="0">
                <a:solidFill>
                  <a:srgbClr val="1D3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Lima Metropolitana, restaurantes, panaderías, cafeterías y supermercados pueden terminar la jornada con productos aptos que no lograron vender. La Ley N.º 30988 promueve en el Perú la reducción y prevención de las pérdidas y desperdicios de alimentos [2].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0" y="2971800"/>
            <a:ext cx="2240280" cy="1645920"/>
          </a:xfrm>
          <a:prstGeom prst="roundRect">
            <a:avLst>
              <a:gd name="adj" fmla="val 8333"/>
            </a:avLst>
          </a:prstGeom>
          <a:solidFill>
            <a:srgbClr val="ECF3DC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12" name="Text 10"/>
          <p:cNvSpPr txBox="1"/>
          <p:nvPr/>
        </p:nvSpPr>
        <p:spPr>
          <a:xfrm>
            <a:off x="4754880" y="3127248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83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Pérdidas económicas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4754880" y="3474720"/>
            <a:ext cx="18745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00" dirty="0">
                <a:solidFill>
                  <a:srgbClr val="1D3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pierde la inversión en ingredientes, preparación, almacenamiento y trabajo.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986016" y="2971800"/>
            <a:ext cx="2240280" cy="1645920"/>
          </a:xfrm>
          <a:prstGeom prst="roundRect">
            <a:avLst>
              <a:gd name="adj" fmla="val 8333"/>
            </a:avLst>
          </a:prstGeom>
          <a:solidFill>
            <a:srgbClr val="ECF3DC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15" name="Text 13"/>
          <p:cNvSpPr txBox="1"/>
          <p:nvPr/>
        </p:nvSpPr>
        <p:spPr>
          <a:xfrm>
            <a:off x="7168896" y="3127248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83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Recursos perdidos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7168896" y="3474720"/>
            <a:ext cx="18745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00" dirty="0">
                <a:solidFill>
                  <a:srgbClr val="1D3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desperdician los alimentos y los recursos empleados para producirlos.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9400032" y="2971800"/>
            <a:ext cx="2240280" cy="1645920"/>
          </a:xfrm>
          <a:prstGeom prst="roundRect">
            <a:avLst>
              <a:gd name="adj" fmla="val 8333"/>
            </a:avLst>
          </a:prstGeom>
          <a:solidFill>
            <a:srgbClr val="ECF3DC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18" name="Text 16"/>
          <p:cNvSpPr txBox="1"/>
          <p:nvPr/>
        </p:nvSpPr>
        <p:spPr>
          <a:xfrm>
            <a:off x="9582912" y="3127248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83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Oportunidad perdida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9582912" y="3474720"/>
            <a:ext cx="18745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00" dirty="0">
                <a:solidFill>
                  <a:srgbClr val="1D3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consumidores no pueden adquirir esos alimentos a menor precio a tiempo.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572000" y="4800600"/>
            <a:ext cx="7068312" cy="118872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EDED1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1" name="Text 19"/>
          <p:cNvSpPr txBox="1"/>
          <p:nvPr/>
        </p:nvSpPr>
        <p:spPr>
          <a:xfrm>
            <a:off x="4800600" y="4919472"/>
            <a:ext cx="6583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100" b="1" kern="0" spc="200" dirty="0">
                <a:solidFill>
                  <a:srgbClr val="C96A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PROBLEMA CENTRAL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4800600" y="5193792"/>
            <a:ext cx="6629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500" dirty="0">
                <a:solidFill>
                  <a:srgbClr val="1D3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descarte de excedentes todavía aptos para el consumo en establecimientos de Lima Metropolitana, por la diferencia entre la oferta preparada y la demanda efectiva y el poco tiempo antes del cierre.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4572000" y="6108192"/>
            <a:ext cx="7068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100" dirty="0">
                <a:solidFill>
                  <a:srgbClr val="526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[1] PNUMA, Food Waste Index Report 2024.   [2] Congreso de la República del Perú, Ley N.º 30988.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4652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52675C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658368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200" dirty="0">
                <a:solidFill>
                  <a:srgbClr val="1029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Sazloop: packs sorpresa con recojo presencial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84048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200" b="1" kern="0" spc="200" dirty="0">
                <a:solidFill>
                  <a:srgbClr val="315C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SOLUCIÓN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81328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700" dirty="0">
                <a:solidFill>
                  <a:srgbClr val="1D3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plataforma web mobile-first donde los establecimientos publican sus excedentes como packs sorpresa a menor precio y los consumidores los compran y recogen en el local.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2423160"/>
            <a:ext cx="2624328" cy="2468880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2700">
            <a:solidFill>
              <a:srgbClr val="DEDED1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Shape 4"/>
          <p:cNvSpPr/>
          <p:nvPr/>
        </p:nvSpPr>
        <p:spPr>
          <a:xfrm>
            <a:off x="777240" y="2651760"/>
            <a:ext cx="457200" cy="457200"/>
          </a:xfrm>
          <a:prstGeom prst="ellipse">
            <a:avLst/>
          </a:prstGeom>
          <a:solidFill>
            <a:srgbClr val="183A2B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7" name="Text 5"/>
          <p:cNvSpPr txBox="1"/>
          <p:nvPr/>
        </p:nvSpPr>
        <p:spPr>
          <a:xfrm>
            <a:off x="777240" y="2651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371600" y="2679192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000" dirty="0">
                <a:solidFill>
                  <a:srgbClr val="183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Afiliación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3310128"/>
            <a:ext cx="219456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400" dirty="0">
                <a:solidFill>
                  <a:srgbClr val="1D3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propietario registra su empresa y sus locales. El administrador revisa los documentos y aprueba o rechaza cada solicitud.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3355848" y="2423160"/>
            <a:ext cx="2624328" cy="2468880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2700">
            <a:solidFill>
              <a:srgbClr val="DEDED1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1" name="Shape 9"/>
          <p:cNvSpPr/>
          <p:nvPr/>
        </p:nvSpPr>
        <p:spPr>
          <a:xfrm>
            <a:off x="3584448" y="2651760"/>
            <a:ext cx="457200" cy="457200"/>
          </a:xfrm>
          <a:prstGeom prst="ellipse">
            <a:avLst/>
          </a:prstGeom>
          <a:solidFill>
            <a:srgbClr val="183A2B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12" name="Text 10"/>
          <p:cNvSpPr txBox="1"/>
          <p:nvPr/>
        </p:nvSpPr>
        <p:spPr>
          <a:xfrm>
            <a:off x="3584448" y="2651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4178808" y="2679192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000" dirty="0">
                <a:solidFill>
                  <a:srgbClr val="183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Oferta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3584448" y="3310128"/>
            <a:ext cx="219456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400" dirty="0">
                <a:solidFill>
                  <a:srgbClr val="1D3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personal del local publica una oferta activa con variantes de tamaño, precio, stock y horario de recojo.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163056" y="2423160"/>
            <a:ext cx="2624328" cy="2468880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2700">
            <a:solidFill>
              <a:srgbClr val="DEDED1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6" name="Shape 14"/>
          <p:cNvSpPr/>
          <p:nvPr/>
        </p:nvSpPr>
        <p:spPr>
          <a:xfrm>
            <a:off x="6391656" y="2651760"/>
            <a:ext cx="457200" cy="457200"/>
          </a:xfrm>
          <a:prstGeom prst="ellipse">
            <a:avLst/>
          </a:prstGeom>
          <a:solidFill>
            <a:srgbClr val="183A2B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17" name="Text 15"/>
          <p:cNvSpPr txBox="1"/>
          <p:nvPr/>
        </p:nvSpPr>
        <p:spPr>
          <a:xfrm>
            <a:off x="6391656" y="2651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986016" y="2679192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000" dirty="0">
                <a:solidFill>
                  <a:srgbClr val="183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Compra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6391656" y="3310128"/>
            <a:ext cx="219456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400" dirty="0">
                <a:solidFill>
                  <a:srgbClr val="1D3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consumidor busca, filtra y paga con pago simulado (tarjeta de débito o Yape) o en efectivo desde el QR del local. Recibe boleta simulada y código único.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8970264" y="2423160"/>
            <a:ext cx="2624328" cy="2468880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2700">
            <a:solidFill>
              <a:srgbClr val="DEDED1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1" name="Shape 19"/>
          <p:cNvSpPr/>
          <p:nvPr/>
        </p:nvSpPr>
        <p:spPr>
          <a:xfrm>
            <a:off x="9198864" y="2651760"/>
            <a:ext cx="457200" cy="457200"/>
          </a:xfrm>
          <a:prstGeom prst="ellipse">
            <a:avLst/>
          </a:prstGeom>
          <a:solidFill>
            <a:srgbClr val="183A2B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22" name="Text 20"/>
          <p:cNvSpPr txBox="1"/>
          <p:nvPr/>
        </p:nvSpPr>
        <p:spPr>
          <a:xfrm>
            <a:off x="9198864" y="2651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9793224" y="2679192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000" dirty="0">
                <a:solidFill>
                  <a:srgbClr val="183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Recojo</a:t>
            </a:r>
            <a:endParaRPr lang="en-US" sz="2000" dirty="0"/>
          </a:p>
        </p:txBody>
      </p:sp>
      <p:sp>
        <p:nvSpPr>
          <p:cNvPr id="24" name="Text 22"/>
          <p:cNvSpPr txBox="1"/>
          <p:nvPr/>
        </p:nvSpPr>
        <p:spPr>
          <a:xfrm>
            <a:off x="9198864" y="3310128"/>
            <a:ext cx="219456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400" dirty="0">
                <a:solidFill>
                  <a:srgbClr val="1D3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personal valida el código y confirma la entrega. Después, el consumidor puede calificar el pack.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548640" y="521208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100" b="1" kern="0" spc="200" dirty="0">
                <a:solidFill>
                  <a:srgbClr val="C96A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REGLAS CLAVE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548640" y="5486400"/>
            <a:ext cx="2624328" cy="685800"/>
          </a:xfrm>
          <a:prstGeom prst="roundRect">
            <a:avLst>
              <a:gd name="adj" fmla="val 40000"/>
            </a:avLst>
          </a:prstGeom>
          <a:solidFill>
            <a:srgbClr val="ECF3DC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27" name="Text 25"/>
          <p:cNvSpPr txBox="1"/>
          <p:nvPr/>
        </p:nvSpPr>
        <p:spPr>
          <a:xfrm>
            <a:off x="777240" y="548640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83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oferta activa por local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355848" y="5486400"/>
            <a:ext cx="2624328" cy="685800"/>
          </a:xfrm>
          <a:prstGeom prst="roundRect">
            <a:avLst>
              <a:gd name="adj" fmla="val 40000"/>
            </a:avLst>
          </a:prstGeom>
          <a:solidFill>
            <a:srgbClr val="ECF3DC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29" name="Text 27"/>
          <p:cNvSpPr txBox="1"/>
          <p:nvPr/>
        </p:nvSpPr>
        <p:spPr>
          <a:xfrm>
            <a:off x="3584448" y="548640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83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Reembolso simulado del 50 % al cancelar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6163056" y="5486400"/>
            <a:ext cx="2624328" cy="685800"/>
          </a:xfrm>
          <a:prstGeom prst="roundRect">
            <a:avLst>
              <a:gd name="adj" fmla="val 40000"/>
            </a:avLst>
          </a:prstGeom>
          <a:solidFill>
            <a:srgbClr val="ECF3DC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31" name="Text 29"/>
          <p:cNvSpPr txBox="1"/>
          <p:nvPr/>
        </p:nvSpPr>
        <p:spPr>
          <a:xfrm>
            <a:off x="6391656" y="548640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83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Comisión de Sazloop: 10 %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8970264" y="5486400"/>
            <a:ext cx="2624328" cy="685800"/>
          </a:xfrm>
          <a:prstGeom prst="roundRect">
            <a:avLst>
              <a:gd name="adj" fmla="val 40000"/>
            </a:avLst>
          </a:prstGeom>
          <a:solidFill>
            <a:srgbClr val="ECF3DC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33" name="Text 31"/>
          <p:cNvSpPr txBox="1"/>
          <p:nvPr/>
        </p:nvSpPr>
        <p:spPr>
          <a:xfrm>
            <a:off x="9198864" y="548640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83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Suspensión automática si vence un documento</a:t>
            </a:r>
            <a:endParaRPr lang="en-US" sz="1300" dirty="0"/>
          </a:p>
        </p:txBody>
      </p:sp>
      <p:sp>
        <p:nvSpPr>
          <p:cNvPr id="34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4652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52675C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658368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200" dirty="0">
                <a:solidFill>
                  <a:srgbClr val="1029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Monolito modular por capas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84048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200" b="1" kern="0" spc="200" dirty="0">
                <a:solidFill>
                  <a:srgbClr val="315C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ARQUITECTURA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48640" y="1618488"/>
            <a:ext cx="384048" cy="384048"/>
          </a:xfrm>
          <a:prstGeom prst="ellipse">
            <a:avLst/>
          </a:prstGeom>
          <a:solidFill>
            <a:srgbClr val="315C3D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5" name="Text 3"/>
          <p:cNvSpPr txBox="1"/>
          <p:nvPr/>
        </p:nvSpPr>
        <p:spPr>
          <a:xfrm>
            <a:off x="548640" y="16184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097280" y="1572768"/>
            <a:ext cx="6172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183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Seis módulos de negocio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097280" y="1874520"/>
            <a:ext cx="6172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400" dirty="0">
                <a:solidFill>
                  <a:srgbClr val="1D3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Identidad, Afiliación, Ofertas, Reservas, Transacciones y Experiencia, más el paquete compartido con las sesiones por rol.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532888"/>
            <a:ext cx="384048" cy="384048"/>
          </a:xfrm>
          <a:prstGeom prst="ellipse">
            <a:avLst/>
          </a:prstGeom>
          <a:solidFill>
            <a:srgbClr val="315C3D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9" name="Text 7"/>
          <p:cNvSpPr txBox="1"/>
          <p:nvPr/>
        </p:nvSpPr>
        <p:spPr>
          <a:xfrm>
            <a:off x="548640" y="25328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97280" y="2487168"/>
            <a:ext cx="6172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183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Capas dentro de cada módulo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2788920"/>
            <a:ext cx="6172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400" dirty="0">
                <a:solidFill>
                  <a:srgbClr val="1D3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Controlador → Servicio → Repositorio → Dominio, con DTO para los datos de entrada y salida.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8640" y="3447288"/>
            <a:ext cx="384048" cy="384048"/>
          </a:xfrm>
          <a:prstGeom prst="ellipse">
            <a:avLst/>
          </a:prstGeom>
          <a:solidFill>
            <a:srgbClr val="315C3D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13" name="Text 11"/>
          <p:cNvSpPr txBox="1"/>
          <p:nvPr/>
        </p:nvSpPr>
        <p:spPr>
          <a:xfrm>
            <a:off x="548640" y="34472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097280" y="3401568"/>
            <a:ext cx="6172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183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REST y pantallas en un solo JAR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3703320"/>
            <a:ext cx="6172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400" dirty="0">
                <a:solidFill>
                  <a:srgbClr val="1D3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 servicios web en 15 controladores. El mismo Spring Boot sirve el HTML, el CSS y el JavaScript; el frontend no accede a la base de datos.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48640" y="4361688"/>
            <a:ext cx="384048" cy="384048"/>
          </a:xfrm>
          <a:prstGeom prst="ellipse">
            <a:avLst/>
          </a:prstGeom>
          <a:solidFill>
            <a:srgbClr val="315C3D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17" name="Text 15"/>
          <p:cNvSpPr txBox="1"/>
          <p:nvPr/>
        </p:nvSpPr>
        <p:spPr>
          <a:xfrm>
            <a:off x="548640" y="43616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97280" y="4315968"/>
            <a:ext cx="6172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183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Seguridad por rol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1097280" y="4617720"/>
            <a:ext cx="6172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400" dirty="0">
                <a:solidFill>
                  <a:srgbClr val="1D3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Sesiones separadas para persona, cuenta del local y administrador (cookie HttpOnly) y contraseñas con PBKDF2.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548640" y="5276088"/>
            <a:ext cx="384048" cy="384048"/>
          </a:xfrm>
          <a:prstGeom prst="ellipse">
            <a:avLst/>
          </a:prstGeom>
          <a:solidFill>
            <a:srgbClr val="315C3D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21" name="Text 19"/>
          <p:cNvSpPr txBox="1"/>
          <p:nvPr/>
        </p:nvSpPr>
        <p:spPr>
          <a:xfrm>
            <a:off x="548640" y="5276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1097280" y="5230368"/>
            <a:ext cx="6172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183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Integridad de los datos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1097280" y="5532120"/>
            <a:ext cx="6172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400" dirty="0">
                <a:solidFill>
                  <a:srgbClr val="1D3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Transacciones y bloqueo pesimista de la oferta, la reserva y el código de recojo para evitar la sobreventa.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7680960" y="1554480"/>
            <a:ext cx="3959352" cy="4572000"/>
          </a:xfrm>
          <a:prstGeom prst="roundRect">
            <a:avLst>
              <a:gd name="adj" fmla="val 4619"/>
            </a:avLst>
          </a:prstGeom>
          <a:solidFill>
            <a:srgbClr val="183A2B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25" name="Text 23"/>
          <p:cNvSpPr txBox="1"/>
          <p:nvPr/>
        </p:nvSpPr>
        <p:spPr>
          <a:xfrm>
            <a:off x="7955280" y="173736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200" dirty="0">
                <a:solidFill>
                  <a:srgbClr val="D9ECA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Tecnologías</a:t>
            </a:r>
            <a:endParaRPr lang="en-US" sz="2200" dirty="0"/>
          </a:p>
        </p:txBody>
      </p:sp>
      <p:sp>
        <p:nvSpPr>
          <p:cNvPr id="26" name="Text 24"/>
          <p:cNvSpPr txBox="1"/>
          <p:nvPr/>
        </p:nvSpPr>
        <p:spPr>
          <a:xfrm>
            <a:off x="7955280" y="2395728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100" dirty="0">
                <a:solidFill>
                  <a:srgbClr val="B9CD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Lenguaje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7955280" y="2578608"/>
            <a:ext cx="34747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 21</a:t>
            </a:r>
            <a:endParaRPr lang="en-US" sz="1600" dirty="0"/>
          </a:p>
        </p:txBody>
      </p:sp>
      <p:sp>
        <p:nvSpPr>
          <p:cNvPr id="28" name="Text 26"/>
          <p:cNvSpPr txBox="1"/>
          <p:nvPr/>
        </p:nvSpPr>
        <p:spPr>
          <a:xfrm>
            <a:off x="7955280" y="2990088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100" dirty="0">
                <a:solidFill>
                  <a:srgbClr val="B9CD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7955280" y="3172968"/>
            <a:ext cx="34747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Spring Boot 4.1.1</a:t>
            </a:r>
            <a:endParaRPr lang="en-US" sz="1600" dirty="0"/>
          </a:p>
        </p:txBody>
      </p:sp>
      <p:sp>
        <p:nvSpPr>
          <p:cNvPr id="30" name="Text 28"/>
          <p:cNvSpPr txBox="1"/>
          <p:nvPr/>
        </p:nvSpPr>
        <p:spPr>
          <a:xfrm>
            <a:off x="7955280" y="3584448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100" dirty="0">
                <a:solidFill>
                  <a:srgbClr val="B9CD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Construcción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7955280" y="3767328"/>
            <a:ext cx="34747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Maven (Maven Wrapper)</a:t>
            </a:r>
            <a:endParaRPr lang="en-US" sz="1600" dirty="0"/>
          </a:p>
        </p:txBody>
      </p:sp>
      <p:sp>
        <p:nvSpPr>
          <p:cNvPr id="32" name="Text 30"/>
          <p:cNvSpPr txBox="1"/>
          <p:nvPr/>
        </p:nvSpPr>
        <p:spPr>
          <a:xfrm>
            <a:off x="7955280" y="4178808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100" dirty="0">
                <a:solidFill>
                  <a:srgbClr val="B9CD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Persistencia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7955280" y="4361688"/>
            <a:ext cx="34747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Spring Data JPA (Hibernate)</a:t>
            </a:r>
            <a:endParaRPr lang="en-US" sz="1600" dirty="0"/>
          </a:p>
        </p:txBody>
      </p:sp>
      <p:sp>
        <p:nvSpPr>
          <p:cNvPr id="34" name="Text 32"/>
          <p:cNvSpPr txBox="1"/>
          <p:nvPr/>
        </p:nvSpPr>
        <p:spPr>
          <a:xfrm>
            <a:off x="7955280" y="4773168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100" dirty="0">
                <a:solidFill>
                  <a:srgbClr val="B9CD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de datos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7955280" y="4956048"/>
            <a:ext cx="34747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MySQL · H2 en las pruebas</a:t>
            </a:r>
            <a:endParaRPr lang="en-US" sz="1600" dirty="0"/>
          </a:p>
        </p:txBody>
      </p:sp>
      <p:sp>
        <p:nvSpPr>
          <p:cNvPr id="36" name="Text 34"/>
          <p:cNvSpPr txBox="1"/>
          <p:nvPr/>
        </p:nvSpPr>
        <p:spPr>
          <a:xfrm>
            <a:off x="7955280" y="5367528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100" dirty="0">
                <a:solidFill>
                  <a:srgbClr val="B9CD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endParaRPr lang="en-US" sz="1100" dirty="0"/>
          </a:p>
        </p:txBody>
      </p:sp>
      <p:sp>
        <p:nvSpPr>
          <p:cNvPr id="37" name="Text 35"/>
          <p:cNvSpPr txBox="1"/>
          <p:nvPr/>
        </p:nvSpPr>
        <p:spPr>
          <a:xfrm>
            <a:off x="7955280" y="5550408"/>
            <a:ext cx="34747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HTML, CSS y JavaScript</a:t>
            </a:r>
            <a:endParaRPr lang="en-US" sz="1600" dirty="0"/>
          </a:p>
        </p:txBody>
      </p:sp>
      <p:sp>
        <p:nvSpPr>
          <p:cNvPr id="3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4652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52675C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658368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200" dirty="0">
                <a:solidFill>
                  <a:srgbClr val="1029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Del navegador a la base de datos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84048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200" b="1" kern="0" spc="200" dirty="0">
                <a:solidFill>
                  <a:srgbClr val="315C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DIAGRAMA DE ARQUITECTURA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11091672" cy="960120"/>
          </a:xfrm>
          <a:prstGeom prst="roundRect">
            <a:avLst>
              <a:gd name="adj" fmla="val 14286"/>
            </a:avLst>
          </a:prstGeom>
          <a:solidFill>
            <a:srgbClr val="ECF3DC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5" name="Text 3"/>
          <p:cNvSpPr txBox="1"/>
          <p:nvPr/>
        </p:nvSpPr>
        <p:spPr>
          <a:xfrm>
            <a:off x="777240" y="1572768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83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Navegador · Frontend (HTML, CSS y JavaScript)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77240" y="1892808"/>
            <a:ext cx="192024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315C3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" name="Text 5"/>
          <p:cNvSpPr txBox="1"/>
          <p:nvPr/>
        </p:nvSpPr>
        <p:spPr>
          <a:xfrm>
            <a:off x="777240" y="1892808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183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Sitio público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880360" y="1892808"/>
            <a:ext cx="192024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315C3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9" name="Text 7"/>
          <p:cNvSpPr txBox="1"/>
          <p:nvPr/>
        </p:nvSpPr>
        <p:spPr>
          <a:xfrm>
            <a:off x="2880360" y="1892808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183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Portal consumidor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983480" y="1892808"/>
            <a:ext cx="192024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315C3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1" name="Text 9"/>
          <p:cNvSpPr txBox="1"/>
          <p:nvPr/>
        </p:nvSpPr>
        <p:spPr>
          <a:xfrm>
            <a:off x="4983480" y="1892808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183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Portal trabajador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7086600" y="1892808"/>
            <a:ext cx="192024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315C3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3" name="Text 11"/>
          <p:cNvSpPr txBox="1"/>
          <p:nvPr/>
        </p:nvSpPr>
        <p:spPr>
          <a:xfrm>
            <a:off x="7086600" y="1892808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183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Portal empresa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89720" y="1892808"/>
            <a:ext cx="192024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315C3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5" name="Text 13"/>
          <p:cNvSpPr txBox="1"/>
          <p:nvPr/>
        </p:nvSpPr>
        <p:spPr>
          <a:xfrm>
            <a:off x="9189720" y="1892808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183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Portal administración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099048" y="2468880"/>
            <a:ext cx="0" cy="457200"/>
          </a:xfrm>
          <a:prstGeom prst="line">
            <a:avLst/>
          </a:prstGeom>
          <a:noFill/>
          <a:ln w="25400">
            <a:solidFill>
              <a:srgbClr val="183A2B"/>
            </a:solidFill>
            <a:prstDash val="solid"/>
            <a:tailEnd type="triangle"/>
          </a:ln>
        </p:spPr>
        <p:txBody>
          <a:bodyPr/>
          <a:lstStyle/>
          <a:p>
            <a:endParaRPr lang="es-PE"/>
          </a:p>
        </p:txBody>
      </p:sp>
      <p:sp>
        <p:nvSpPr>
          <p:cNvPr id="17" name="Text 15"/>
          <p:cNvSpPr txBox="1"/>
          <p:nvPr/>
        </p:nvSpPr>
        <p:spPr>
          <a:xfrm>
            <a:off x="6309360" y="254203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200" dirty="0">
                <a:solidFill>
                  <a:srgbClr val="526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 · JSON · API REST (cookie de sesión HttpOnly)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48640" y="2926080"/>
            <a:ext cx="11091672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83A2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9" name="Text 17"/>
          <p:cNvSpPr txBox="1"/>
          <p:nvPr/>
        </p:nvSpPr>
        <p:spPr>
          <a:xfrm>
            <a:off x="777240" y="299008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83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· Spring Boot 4.1.1 · Java 21 · monolito modular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777240" y="3337560"/>
            <a:ext cx="5394960" cy="384048"/>
          </a:xfrm>
          <a:prstGeom prst="roundRect">
            <a:avLst>
              <a:gd name="adj" fmla="val 19048"/>
            </a:avLst>
          </a:prstGeom>
          <a:solidFill>
            <a:srgbClr val="183A2B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21" name="Text 19"/>
          <p:cNvSpPr txBox="1"/>
          <p:nvPr/>
        </p:nvSpPr>
        <p:spPr>
          <a:xfrm>
            <a:off x="914400" y="3337560"/>
            <a:ext cx="5120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Controladores REST · 15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777240" y="3794760"/>
            <a:ext cx="5394960" cy="384048"/>
          </a:xfrm>
          <a:prstGeom prst="roundRect">
            <a:avLst>
              <a:gd name="adj" fmla="val 19048"/>
            </a:avLst>
          </a:prstGeom>
          <a:solidFill>
            <a:srgbClr val="315C3D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23" name="Text 21"/>
          <p:cNvSpPr txBox="1"/>
          <p:nvPr/>
        </p:nvSpPr>
        <p:spPr>
          <a:xfrm>
            <a:off x="914400" y="3794760"/>
            <a:ext cx="5120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Servicios de negocio · 25 (@Transactional)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777240" y="4251960"/>
            <a:ext cx="5394960" cy="384048"/>
          </a:xfrm>
          <a:prstGeom prst="roundRect">
            <a:avLst>
              <a:gd name="adj" fmla="val 19048"/>
            </a:avLst>
          </a:prstGeom>
          <a:solidFill>
            <a:srgbClr val="4C7A55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25" name="Text 23"/>
          <p:cNvSpPr txBox="1"/>
          <p:nvPr/>
        </p:nvSpPr>
        <p:spPr>
          <a:xfrm>
            <a:off x="914400" y="4251960"/>
            <a:ext cx="5120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Repositorios Spring Data JPA · 22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777240" y="4709160"/>
            <a:ext cx="5394960" cy="384048"/>
          </a:xfrm>
          <a:prstGeom prst="roundRect">
            <a:avLst>
              <a:gd name="adj" fmla="val 19048"/>
            </a:avLst>
          </a:prstGeom>
          <a:solidFill>
            <a:srgbClr val="6F9A74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27" name="Text 25"/>
          <p:cNvSpPr txBox="1"/>
          <p:nvPr/>
        </p:nvSpPr>
        <p:spPr>
          <a:xfrm>
            <a:off x="914400" y="4709160"/>
            <a:ext cx="5120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Entidades de dominio · 31  +  DTO · 29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6492240" y="3337560"/>
            <a:ext cx="4937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100" b="1" kern="0" spc="100" dirty="0">
                <a:solidFill>
                  <a:srgbClr val="C96A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492240" y="3611880"/>
            <a:ext cx="1554480" cy="347472"/>
          </a:xfrm>
          <a:prstGeom prst="roundRect">
            <a:avLst>
              <a:gd name="adj" fmla="val 50000"/>
            </a:avLst>
          </a:prstGeom>
          <a:solidFill>
            <a:srgbClr val="ECF3DC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30" name="Text 28"/>
          <p:cNvSpPr txBox="1"/>
          <p:nvPr/>
        </p:nvSpPr>
        <p:spPr>
          <a:xfrm>
            <a:off x="6492240" y="3611880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183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Identidad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8138160" y="3611880"/>
            <a:ext cx="1554480" cy="347472"/>
          </a:xfrm>
          <a:prstGeom prst="roundRect">
            <a:avLst>
              <a:gd name="adj" fmla="val 50000"/>
            </a:avLst>
          </a:prstGeom>
          <a:solidFill>
            <a:srgbClr val="ECF3DC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32" name="Text 30"/>
          <p:cNvSpPr txBox="1"/>
          <p:nvPr/>
        </p:nvSpPr>
        <p:spPr>
          <a:xfrm>
            <a:off x="8138160" y="3611880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183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Afiliación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9784080" y="3611880"/>
            <a:ext cx="1554480" cy="347472"/>
          </a:xfrm>
          <a:prstGeom prst="roundRect">
            <a:avLst>
              <a:gd name="adj" fmla="val 50000"/>
            </a:avLst>
          </a:prstGeom>
          <a:solidFill>
            <a:srgbClr val="ECF3DC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34" name="Text 32"/>
          <p:cNvSpPr txBox="1"/>
          <p:nvPr/>
        </p:nvSpPr>
        <p:spPr>
          <a:xfrm>
            <a:off x="9784080" y="3611880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183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Ofertas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6492240" y="4032504"/>
            <a:ext cx="1554480" cy="347472"/>
          </a:xfrm>
          <a:prstGeom prst="roundRect">
            <a:avLst>
              <a:gd name="adj" fmla="val 50000"/>
            </a:avLst>
          </a:prstGeom>
          <a:solidFill>
            <a:srgbClr val="ECF3DC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36" name="Text 34"/>
          <p:cNvSpPr txBox="1"/>
          <p:nvPr/>
        </p:nvSpPr>
        <p:spPr>
          <a:xfrm>
            <a:off x="6492240" y="4032504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183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Reservas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8138160" y="4032504"/>
            <a:ext cx="1554480" cy="347472"/>
          </a:xfrm>
          <a:prstGeom prst="roundRect">
            <a:avLst>
              <a:gd name="adj" fmla="val 50000"/>
            </a:avLst>
          </a:prstGeom>
          <a:solidFill>
            <a:srgbClr val="ECF3DC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38" name="Text 36"/>
          <p:cNvSpPr txBox="1"/>
          <p:nvPr/>
        </p:nvSpPr>
        <p:spPr>
          <a:xfrm>
            <a:off x="8138160" y="4032504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183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Transacciones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9784080" y="4032504"/>
            <a:ext cx="1554480" cy="347472"/>
          </a:xfrm>
          <a:prstGeom prst="roundRect">
            <a:avLst>
              <a:gd name="adj" fmla="val 50000"/>
            </a:avLst>
          </a:prstGeom>
          <a:solidFill>
            <a:srgbClr val="ECF3DC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40" name="Text 38"/>
          <p:cNvSpPr txBox="1"/>
          <p:nvPr/>
        </p:nvSpPr>
        <p:spPr>
          <a:xfrm>
            <a:off x="9784080" y="4032504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183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Experiencia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6492240" y="4453128"/>
            <a:ext cx="1554480" cy="347472"/>
          </a:xfrm>
          <a:prstGeom prst="roundRect">
            <a:avLst>
              <a:gd name="adj" fmla="val 50000"/>
            </a:avLst>
          </a:prstGeom>
          <a:solidFill>
            <a:srgbClr val="ECF3DC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42" name="Text 40"/>
          <p:cNvSpPr txBox="1"/>
          <p:nvPr/>
        </p:nvSpPr>
        <p:spPr>
          <a:xfrm>
            <a:off x="6492240" y="4453128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183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8183880" y="4453128"/>
            <a:ext cx="3291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200" dirty="0">
                <a:solidFill>
                  <a:srgbClr val="1D3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tareas programadas (@Scheduled)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6492240" y="484632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200" dirty="0">
                <a:solidFill>
                  <a:srgbClr val="526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Sesiones por rol · PBKDF2 · Bean Validation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6099048" y="5212080"/>
            <a:ext cx="0" cy="411480"/>
          </a:xfrm>
          <a:prstGeom prst="line">
            <a:avLst/>
          </a:prstGeom>
          <a:noFill/>
          <a:ln w="25400">
            <a:solidFill>
              <a:srgbClr val="183A2B"/>
            </a:solidFill>
            <a:prstDash val="solid"/>
            <a:tailEnd type="triangle"/>
          </a:ln>
        </p:spPr>
        <p:txBody>
          <a:bodyPr/>
          <a:lstStyle/>
          <a:p>
            <a:endParaRPr lang="es-PE"/>
          </a:p>
        </p:txBody>
      </p:sp>
      <p:sp>
        <p:nvSpPr>
          <p:cNvPr id="46" name="Text 44"/>
          <p:cNvSpPr txBox="1"/>
          <p:nvPr/>
        </p:nvSpPr>
        <p:spPr>
          <a:xfrm>
            <a:off x="6309360" y="528523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200" dirty="0">
                <a:solidFill>
                  <a:srgbClr val="526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JPA / Hibernate · JDBC</a:t>
            </a:r>
            <a:endParaRPr lang="en-US" sz="1200" dirty="0"/>
          </a:p>
        </p:txBody>
      </p:sp>
      <p:sp>
        <p:nvSpPr>
          <p:cNvPr id="47" name="Shape 45"/>
          <p:cNvSpPr/>
          <p:nvPr/>
        </p:nvSpPr>
        <p:spPr>
          <a:xfrm>
            <a:off x="2377440" y="5623560"/>
            <a:ext cx="7434072" cy="685800"/>
          </a:xfrm>
          <a:prstGeom prst="roundRect">
            <a:avLst>
              <a:gd name="adj" fmla="val 20000"/>
            </a:avLst>
          </a:prstGeom>
          <a:solidFill>
            <a:srgbClr val="183A2B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48" name="Text 46"/>
          <p:cNvSpPr txBox="1"/>
          <p:nvPr/>
        </p:nvSpPr>
        <p:spPr>
          <a:xfrm>
            <a:off x="2377440" y="5623560"/>
            <a:ext cx="74340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de datos · MySQL (33 tablas)   |   H2 en memoria (desarrollo y pruebas)</a:t>
            </a:r>
            <a:endParaRPr lang="en-US" sz="1400" dirty="0"/>
          </a:p>
        </p:txBody>
      </p:sp>
      <p:sp>
        <p:nvSpPr>
          <p:cNvPr id="4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4652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52675C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658368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200" dirty="0">
                <a:solidFill>
                  <a:srgbClr val="1029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31 clases de dominio en seis módulos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84048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200" b="1" kern="0" spc="200" dirty="0">
                <a:solidFill>
                  <a:srgbClr val="315C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DIAGRAMA DE CLASES</a:t>
            </a:r>
            <a:endParaRPr lang="en-US" sz="1200" dirty="0"/>
          </a:p>
        </p:txBody>
      </p:sp>
      <p:pic>
        <p:nvPicPr>
          <p:cNvPr id="4" name="Image 0" descr="Diagrama de clases de Sazloop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417320"/>
            <a:ext cx="5824728" cy="484632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417320"/>
            <a:ext cx="5824728" cy="4846320"/>
          </a:xfrm>
          <a:prstGeom prst="rect">
            <a:avLst/>
          </a:prstGeom>
          <a:ln w="12700">
            <a:solidFill>
              <a:srgbClr val="DEDED1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Shape 3"/>
          <p:cNvSpPr/>
          <p:nvPr/>
        </p:nvSpPr>
        <p:spPr>
          <a:xfrm>
            <a:off x="6858000" y="1517904"/>
            <a:ext cx="182880" cy="182880"/>
          </a:xfrm>
          <a:prstGeom prst="ellipse">
            <a:avLst/>
          </a:prstGeom>
          <a:solidFill>
            <a:srgbClr val="CC6A00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7" name="Text 4"/>
          <p:cNvSpPr txBox="1"/>
          <p:nvPr/>
        </p:nvSpPr>
        <p:spPr>
          <a:xfrm>
            <a:off x="7178040" y="1463040"/>
            <a:ext cx="4462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83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Identidad · 7 clases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7178040" y="1737360"/>
            <a:ext cx="44622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200" dirty="0">
                <a:solidFill>
                  <a:srgbClr val="526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Usuario, Consumidor, PropietarioEmpresa, Empresa, Establecimiento, CuentaEstablecimiento, Direccion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858000" y="2359152"/>
            <a:ext cx="182880" cy="182880"/>
          </a:xfrm>
          <a:prstGeom prst="ellipse">
            <a:avLst/>
          </a:prstGeom>
          <a:solidFill>
            <a:srgbClr val="4452D6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10" name="Text 7"/>
          <p:cNvSpPr txBox="1"/>
          <p:nvPr/>
        </p:nvSpPr>
        <p:spPr>
          <a:xfrm>
            <a:off x="7178040" y="2304288"/>
            <a:ext cx="4462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83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Afiliación · 6 clases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7178040" y="2578608"/>
            <a:ext cx="446227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200" dirty="0">
                <a:solidFill>
                  <a:srgbClr val="526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SolicitudAfiliacion, DocumentoEstablecimiento, RevisionDocumento, EvaluacionAfiliacion, SuspensionEstablecimiento, AdministradorPlataforma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858000" y="3346704"/>
            <a:ext cx="182880" cy="182880"/>
          </a:xfrm>
          <a:prstGeom prst="ellipse">
            <a:avLst/>
          </a:prstGeom>
          <a:solidFill>
            <a:srgbClr val="A38F00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13" name="Text 10"/>
          <p:cNvSpPr txBox="1"/>
          <p:nvPr/>
        </p:nvSpPr>
        <p:spPr>
          <a:xfrm>
            <a:off x="7178040" y="3291840"/>
            <a:ext cx="4462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83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Ofertas · 5 clases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7178040" y="3566160"/>
            <a:ext cx="44622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200" dirty="0">
                <a:solidFill>
                  <a:srgbClr val="526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PackSorpresa, OfertaPack, VariantePack, Alergeno, RestriccionAlimentaria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6858000" y="4187952"/>
            <a:ext cx="182880" cy="182880"/>
          </a:xfrm>
          <a:prstGeom prst="ellipse">
            <a:avLst/>
          </a:prstGeom>
          <a:solidFill>
            <a:srgbClr val="2E7D32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16" name="Text 13"/>
          <p:cNvSpPr txBox="1"/>
          <p:nvPr/>
        </p:nvSpPr>
        <p:spPr>
          <a:xfrm>
            <a:off x="7178040" y="4133088"/>
            <a:ext cx="4462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83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Reservas · 5 clases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7178040" y="4407408"/>
            <a:ext cx="4462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200" dirty="0">
                <a:solidFill>
                  <a:srgbClr val="526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Reserva, DetalleReserva, CodigoRecojo, Recojo, RetencionStock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6858000" y="4828032"/>
            <a:ext cx="182880" cy="182880"/>
          </a:xfrm>
          <a:prstGeom prst="ellipse">
            <a:avLst/>
          </a:prstGeom>
          <a:solidFill>
            <a:srgbClr val="7A1FA2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19" name="Text 16"/>
          <p:cNvSpPr txBox="1"/>
          <p:nvPr/>
        </p:nvSpPr>
        <p:spPr>
          <a:xfrm>
            <a:off x="7178040" y="4773168"/>
            <a:ext cx="4462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83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Transacciones · 5 clases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7178040" y="5047488"/>
            <a:ext cx="44622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200" dirty="0">
                <a:solidFill>
                  <a:srgbClr val="526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Pago, BoletaSimulada, CancelacionReserva, Reembolso, ComisionPlataforma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6858000" y="5669280"/>
            <a:ext cx="182880" cy="182880"/>
          </a:xfrm>
          <a:prstGeom prst="ellipse">
            <a:avLst/>
          </a:prstGeom>
          <a:solidFill>
            <a:srgbClr val="B3261E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22" name="Text 19"/>
          <p:cNvSpPr txBox="1"/>
          <p:nvPr/>
        </p:nvSpPr>
        <p:spPr>
          <a:xfrm>
            <a:off x="7178040" y="5614416"/>
            <a:ext cx="4462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83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Experiencia · 3 clases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7178040" y="5888736"/>
            <a:ext cx="4462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200" dirty="0">
                <a:solidFill>
                  <a:srgbClr val="526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Resena, Notificacion, ImpactoCO2Evitado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4652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52675C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658368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200" dirty="0">
                <a:solidFill>
                  <a:srgbClr val="1029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33 tablas derivadas de las entidades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84048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200" b="1" kern="0" spc="200" dirty="0">
                <a:solidFill>
                  <a:srgbClr val="315C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DIAGRAMA ENTIDAD-RELACIÓN</a:t>
            </a:r>
            <a:endParaRPr lang="en-US" sz="1200" dirty="0"/>
          </a:p>
        </p:txBody>
      </p:sp>
      <p:pic>
        <p:nvPicPr>
          <p:cNvPr id="4" name="Image 0" descr="Diagrama entidad-relación de Sazloop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508760"/>
            <a:ext cx="7680960" cy="472744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508760"/>
            <a:ext cx="7680960" cy="4727448"/>
          </a:xfrm>
          <a:prstGeom prst="rect">
            <a:avLst/>
          </a:prstGeom>
          <a:ln w="12700">
            <a:solidFill>
              <a:srgbClr val="DEDED1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503920" y="1600200"/>
          <a:ext cx="3136392" cy="2990088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68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9611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Módulo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3A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Entidades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3A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Tablas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3A2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D3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Identidad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D3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D3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D3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Afiliación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D3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D3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D3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Ofertas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D3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D3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D3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Reservas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D3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D3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D3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Transacciones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D3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D3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D3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Experiencia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D3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D3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1D3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3D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1D3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3D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1D3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3D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7" name="Text 3"/>
          <p:cNvSpPr txBox="1"/>
          <p:nvPr/>
        </p:nvSpPr>
        <p:spPr>
          <a:xfrm>
            <a:off x="8503920" y="4800600"/>
            <a:ext cx="313639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00" dirty="0">
                <a:solidFill>
                  <a:srgbClr val="1D3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pack_alergenos y pack_restricciones son tablas asociativas: resuelven las dos relaciones muchos a muchos entre packs, alérgenos y restricciones alimentarias.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4652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52675C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658368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200" dirty="0">
                <a:solidFill>
                  <a:srgbClr val="1029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Componentes y módulos del backend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84048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200" b="1" kern="0" spc="200" dirty="0">
                <a:solidFill>
                  <a:srgbClr val="315C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COMPONENTES DE LA APLICACIÓN</a:t>
            </a:r>
            <a:endParaRPr lang="en-US" sz="1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6949440" cy="4151376"/>
        </p:xfrm>
        <a:graphic>
          <a:graphicData uri="http://schemas.openxmlformats.org/drawingml/2006/table">
            <a:tbl>
              <a:tblPr/>
              <a:tblGrid>
                <a:gridCol w="14630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83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Componente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3A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Tecnología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3A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Función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3A2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13232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183A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Interfaz web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D3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HTML, CSS y JavaScript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D3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Presenta las pantallas y envía las solicitudes mediante la API REST.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13232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183A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Backend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D3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Java 21, Spring Boot 4.1.1 y Maven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D3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Recibe las solicitudes, aplica las reglas de negocio y coordina las operaciones.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1440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183A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Módulos internos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D3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Identidad, Afiliación, Ofertas, Reservas, Transacciones, Experiencia y Shared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D3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Organizan las funciones de acuerdo con los requerimientos funcionales.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13232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183A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Persistencia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D3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Spring Data JPA e Hibernate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D3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Mapea las entidades Java a la base de datos y accede a ella mediante repositorios.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13232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183A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 de datos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D3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MySQL y H2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D3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MySQL guarda la información; H2 apoya el desarrollo y las pruebas.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1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818120" y="1554480"/>
          <a:ext cx="3822192" cy="2816352"/>
        </p:xfrm>
        <a:graphic>
          <a:graphicData uri="http://schemas.openxmlformats.org/drawingml/2006/table">
            <a:tbl>
              <a:tblPr/>
              <a:tblGrid>
                <a:gridCol w="11704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7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7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572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572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1148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1148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Módulo</a:t>
                      </a:r>
                      <a:endParaRPr lang="en-US" sz="1200" dirty="0"/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3A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Ent.</a:t>
                      </a:r>
                      <a:endParaRPr lang="en-US" sz="1200" dirty="0"/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3A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Ctrl.</a:t>
                      </a:r>
                      <a:endParaRPr lang="en-US" sz="1200" dirty="0"/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3A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Serv.</a:t>
                      </a:r>
                      <a:endParaRPr lang="en-US" sz="1200" dirty="0"/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3A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Repo.</a:t>
                      </a:r>
                      <a:endParaRPr lang="en-US" sz="1200" dirty="0"/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3A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DTO</a:t>
                      </a:r>
                      <a:endParaRPr lang="en-US" sz="1200" dirty="0"/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3A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WS</a:t>
                      </a:r>
                      <a:endParaRPr lang="en-US" sz="1200" dirty="0"/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3A2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183A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Identidad</a:t>
                      </a:r>
                      <a:endParaRPr lang="en-US" sz="1200" dirty="0"/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D3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200" dirty="0"/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D3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200" dirty="0"/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D3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200" dirty="0"/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D3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200" dirty="0"/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D3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1200" dirty="0"/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D3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</a:t>
                      </a:r>
                      <a:endParaRPr lang="en-US" sz="1200" dirty="0"/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183A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Afiliación</a:t>
                      </a:r>
                      <a:endParaRPr lang="en-US" sz="1200" dirty="0"/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D3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200" dirty="0"/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D3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200" dirty="0"/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D3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200" dirty="0"/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D3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200" dirty="0"/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D3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200" dirty="0"/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D3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1200" dirty="0"/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183A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Ofertas</a:t>
                      </a:r>
                      <a:endParaRPr lang="en-US" sz="1200" dirty="0"/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D3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200" dirty="0"/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D3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200" dirty="0"/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D3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200" dirty="0"/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D3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200" dirty="0"/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D3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200" dirty="0"/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D3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200" dirty="0"/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183A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Reservas</a:t>
                      </a:r>
                      <a:endParaRPr lang="en-US" sz="1200" dirty="0"/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D3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200" dirty="0"/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D3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200" dirty="0"/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D3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200" dirty="0"/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D3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200" dirty="0"/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D3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200" dirty="0"/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D3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200" dirty="0"/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183A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Transacciones</a:t>
                      </a:r>
                      <a:endParaRPr lang="en-US" sz="1200" dirty="0"/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D3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200" dirty="0"/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D3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D3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200" dirty="0"/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D3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D3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D3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183A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Experiencia</a:t>
                      </a:r>
                      <a:endParaRPr lang="en-US" sz="1200" dirty="0"/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D3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200" dirty="0"/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D3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200" dirty="0"/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D3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200" dirty="0"/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D3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200" dirty="0"/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D3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200" dirty="0"/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D3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200" dirty="0"/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183A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200" dirty="0"/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3D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1D3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</a:t>
                      </a:r>
                      <a:endParaRPr lang="en-US" sz="1200" dirty="0"/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3D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1D3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1200" dirty="0"/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3D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1D3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1200" dirty="0"/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3D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1D3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</a:t>
                      </a:r>
                      <a:endParaRPr lang="en-US" sz="1200" dirty="0"/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3D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1D3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</a:t>
                      </a:r>
                      <a:endParaRPr lang="en-US" sz="1200" dirty="0"/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3D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1D3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</a:t>
                      </a:r>
                      <a:endParaRPr lang="en-US" sz="1200" dirty="0"/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3D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7818120" y="4526280"/>
            <a:ext cx="38221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100" dirty="0">
                <a:solidFill>
                  <a:srgbClr val="526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Ent.: entidades · Ctrl.: controladores · Serv.: servicios · Repo.: repositorios · WS: servicios web REST</a:t>
            </a:r>
            <a:endParaRPr lang="en-US" sz="1100" dirty="0"/>
          </a:p>
        </p:txBody>
      </p:sp>
      <p:sp>
        <p:nvSpPr>
          <p:cNvPr id="7" name="Shape 3"/>
          <p:cNvSpPr/>
          <p:nvPr/>
        </p:nvSpPr>
        <p:spPr>
          <a:xfrm>
            <a:off x="7818120" y="5212080"/>
            <a:ext cx="1810512" cy="914400"/>
          </a:xfrm>
          <a:prstGeom prst="roundRect">
            <a:avLst>
              <a:gd name="adj" fmla="val 15000"/>
            </a:avLst>
          </a:prstGeom>
          <a:solidFill>
            <a:srgbClr val="183A2B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8" name="Text 4"/>
          <p:cNvSpPr txBox="1"/>
          <p:nvPr/>
        </p:nvSpPr>
        <p:spPr>
          <a:xfrm>
            <a:off x="8001000" y="5230368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3200" dirty="0">
                <a:solidFill>
                  <a:srgbClr val="D9ECA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53</a:t>
            </a:r>
            <a:endParaRPr lang="en-US" sz="3200" dirty="0"/>
          </a:p>
        </p:txBody>
      </p:sp>
      <p:sp>
        <p:nvSpPr>
          <p:cNvPr id="4" name="Text 5"/>
          <p:cNvSpPr txBox="1"/>
          <p:nvPr/>
        </p:nvSpPr>
        <p:spPr>
          <a:xfrm>
            <a:off x="8001000" y="576072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servicios web REST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9829800" y="5212080"/>
            <a:ext cx="1810512" cy="914400"/>
          </a:xfrm>
          <a:prstGeom prst="roundRect">
            <a:avLst>
              <a:gd name="adj" fmla="val 15000"/>
            </a:avLst>
          </a:prstGeom>
          <a:solidFill>
            <a:srgbClr val="183A2B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11" name="Text 7"/>
          <p:cNvSpPr txBox="1"/>
          <p:nvPr/>
        </p:nvSpPr>
        <p:spPr>
          <a:xfrm>
            <a:off x="10012680" y="5230368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3200" dirty="0">
                <a:solidFill>
                  <a:srgbClr val="D9ECA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3200" dirty="0"/>
          </a:p>
        </p:txBody>
      </p:sp>
      <p:sp>
        <p:nvSpPr>
          <p:cNvPr id="12" name="Text 8"/>
          <p:cNvSpPr txBox="1"/>
          <p:nvPr/>
        </p:nvSpPr>
        <p:spPr>
          <a:xfrm>
            <a:off x="10012680" y="576072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tareas programadas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4652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52675C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658368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200" dirty="0">
                <a:solidFill>
                  <a:srgbClr val="1029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Seis patrones presentes en el código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84048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200" b="1" kern="0" spc="200" dirty="0">
                <a:solidFill>
                  <a:srgbClr val="315C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PATRONES DE DISEÑO APLICADOS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3593592" cy="2240280"/>
          </a:xfrm>
          <a:prstGeom prst="roundRect">
            <a:avLst>
              <a:gd name="adj" fmla="val 6122"/>
            </a:avLst>
          </a:prstGeom>
          <a:solidFill>
            <a:srgbClr val="FFFFFF"/>
          </a:solidFill>
          <a:ln w="12700">
            <a:solidFill>
              <a:srgbClr val="DEDED1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" name="Shape 3"/>
          <p:cNvSpPr/>
          <p:nvPr/>
        </p:nvSpPr>
        <p:spPr>
          <a:xfrm>
            <a:off x="749808" y="1737360"/>
            <a:ext cx="347472" cy="347472"/>
          </a:xfrm>
          <a:prstGeom prst="ellipse">
            <a:avLst/>
          </a:prstGeom>
          <a:solidFill>
            <a:srgbClr val="315C3D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6" name="Text 4"/>
          <p:cNvSpPr txBox="1"/>
          <p:nvPr/>
        </p:nvSpPr>
        <p:spPr>
          <a:xfrm>
            <a:off x="749808" y="173736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207008" y="17373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800" dirty="0">
                <a:solidFill>
                  <a:srgbClr val="183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Capas y MVC en REST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2267712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00" dirty="0">
                <a:solidFill>
                  <a:srgbClr val="1D3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CompraRecojoController → CompraRecojoService → ReservaRepository.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3090672"/>
            <a:ext cx="3154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00" dirty="0">
                <a:solidFill>
                  <a:srgbClr val="526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 la recepción de solicitudes, las reglas de negocio y el acceso a datos.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297680" y="1554480"/>
            <a:ext cx="3593592" cy="2240280"/>
          </a:xfrm>
          <a:prstGeom prst="roundRect">
            <a:avLst>
              <a:gd name="adj" fmla="val 6122"/>
            </a:avLst>
          </a:prstGeom>
          <a:solidFill>
            <a:srgbClr val="FFFFFF"/>
          </a:solidFill>
          <a:ln w="12700">
            <a:solidFill>
              <a:srgbClr val="DEDED1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1" name="Shape 9"/>
          <p:cNvSpPr/>
          <p:nvPr/>
        </p:nvSpPr>
        <p:spPr>
          <a:xfrm>
            <a:off x="4498848" y="1737360"/>
            <a:ext cx="347472" cy="347472"/>
          </a:xfrm>
          <a:prstGeom prst="ellipse">
            <a:avLst/>
          </a:prstGeom>
          <a:solidFill>
            <a:srgbClr val="315C3D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12" name="Text 10"/>
          <p:cNvSpPr txBox="1"/>
          <p:nvPr/>
        </p:nvSpPr>
        <p:spPr>
          <a:xfrm>
            <a:off x="4498848" y="173736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4956048" y="17373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800" dirty="0">
                <a:solidFill>
                  <a:srgbClr val="183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Repository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4526280" y="2267712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00" dirty="0">
                <a:solidFill>
                  <a:srgbClr val="1D3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 interfaces JpaRepository, como OfertaPackRepository.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4526280" y="3090672"/>
            <a:ext cx="3154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00" dirty="0">
                <a:solidFill>
                  <a:srgbClr val="526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Abstrae el acceso a la base de datos con Spring Data JPA.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8046720" y="1554480"/>
            <a:ext cx="3593592" cy="2240280"/>
          </a:xfrm>
          <a:prstGeom prst="roundRect">
            <a:avLst>
              <a:gd name="adj" fmla="val 6122"/>
            </a:avLst>
          </a:prstGeom>
          <a:solidFill>
            <a:srgbClr val="FFFFFF"/>
          </a:solidFill>
          <a:ln w="12700">
            <a:solidFill>
              <a:srgbClr val="DEDED1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7" name="Shape 15"/>
          <p:cNvSpPr/>
          <p:nvPr/>
        </p:nvSpPr>
        <p:spPr>
          <a:xfrm>
            <a:off x="8247888" y="1737360"/>
            <a:ext cx="347472" cy="347472"/>
          </a:xfrm>
          <a:prstGeom prst="ellipse">
            <a:avLst/>
          </a:prstGeom>
          <a:solidFill>
            <a:srgbClr val="315C3D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18" name="Text 16"/>
          <p:cNvSpPr txBox="1"/>
          <p:nvPr/>
        </p:nvSpPr>
        <p:spPr>
          <a:xfrm>
            <a:off x="8247888" y="173736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8705088" y="17373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800" dirty="0">
                <a:solidFill>
                  <a:srgbClr val="183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DTO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8275320" y="2267712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00" dirty="0">
                <a:solidFill>
                  <a:srgbClr val="1D3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Registros Java como CompraRequest y CompraResponse (29 clases DTO).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8275320" y="3090672"/>
            <a:ext cx="3154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00" dirty="0">
                <a:solidFill>
                  <a:srgbClr val="526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Evita exponer las entidades y valida la entrada con @Valid.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548640" y="3931920"/>
            <a:ext cx="3593592" cy="2240280"/>
          </a:xfrm>
          <a:prstGeom prst="roundRect">
            <a:avLst>
              <a:gd name="adj" fmla="val 6122"/>
            </a:avLst>
          </a:prstGeom>
          <a:solidFill>
            <a:srgbClr val="FFFFFF"/>
          </a:solidFill>
          <a:ln w="12700">
            <a:solidFill>
              <a:srgbClr val="DEDED1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3" name="Shape 21"/>
          <p:cNvSpPr/>
          <p:nvPr/>
        </p:nvSpPr>
        <p:spPr>
          <a:xfrm>
            <a:off x="749808" y="4114800"/>
            <a:ext cx="347472" cy="347472"/>
          </a:xfrm>
          <a:prstGeom prst="ellipse">
            <a:avLst/>
          </a:prstGeom>
          <a:solidFill>
            <a:srgbClr val="315C3D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24" name="Text 22"/>
          <p:cNvSpPr txBox="1"/>
          <p:nvPr/>
        </p:nvSpPr>
        <p:spPr>
          <a:xfrm>
            <a:off x="749808" y="411480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1207008" y="41148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800" dirty="0">
                <a:solidFill>
                  <a:srgbClr val="183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Inyección de dependencias</a:t>
            </a:r>
            <a:endParaRPr lang="en-US" sz="1800" dirty="0"/>
          </a:p>
        </p:txBody>
      </p:sp>
      <p:sp>
        <p:nvSpPr>
          <p:cNvPr id="26" name="Text 24"/>
          <p:cNvSpPr txBox="1"/>
          <p:nvPr/>
        </p:nvSpPr>
        <p:spPr>
          <a:xfrm>
            <a:off x="777240" y="4645152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00" dirty="0">
                <a:solidFill>
                  <a:srgbClr val="1D3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constructores reciben los servicios y componentes de Spring, como en CuentaLocalController.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777240" y="5468112"/>
            <a:ext cx="3154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00" dirty="0">
                <a:solidFill>
                  <a:srgbClr val="526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 el acoplamiento entre las capas.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297680" y="3931920"/>
            <a:ext cx="3593592" cy="2240280"/>
          </a:xfrm>
          <a:prstGeom prst="roundRect">
            <a:avLst>
              <a:gd name="adj" fmla="val 6122"/>
            </a:avLst>
          </a:prstGeom>
          <a:solidFill>
            <a:srgbClr val="FFFFFF"/>
          </a:solidFill>
          <a:ln w="12700">
            <a:solidFill>
              <a:srgbClr val="DEDED1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9" name="Shape 27"/>
          <p:cNvSpPr/>
          <p:nvPr/>
        </p:nvSpPr>
        <p:spPr>
          <a:xfrm>
            <a:off x="4498848" y="4114800"/>
            <a:ext cx="347472" cy="347472"/>
          </a:xfrm>
          <a:prstGeom prst="ellipse">
            <a:avLst/>
          </a:prstGeom>
          <a:solidFill>
            <a:srgbClr val="315C3D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30" name="Text 28"/>
          <p:cNvSpPr txBox="1"/>
          <p:nvPr/>
        </p:nvSpPr>
        <p:spPr>
          <a:xfrm>
            <a:off x="4498848" y="411480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4956048" y="41148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800" dirty="0">
                <a:solidFill>
                  <a:srgbClr val="183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Builder</a:t>
            </a:r>
            <a:endParaRPr lang="en-US" sz="1800" dirty="0"/>
          </a:p>
        </p:txBody>
      </p:sp>
      <p:sp>
        <p:nvSpPr>
          <p:cNvPr id="32" name="Text 30"/>
          <p:cNvSpPr txBox="1"/>
          <p:nvPr/>
        </p:nvSpPr>
        <p:spPr>
          <a:xfrm>
            <a:off x="4526280" y="4645152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00" dirty="0">
                <a:solidFill>
                  <a:srgbClr val="1D3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@Builder de Lombok en las entidades, como Recojo.builder().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4526280" y="5468112"/>
            <a:ext cx="3154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00" dirty="0">
                <a:solidFill>
                  <a:srgbClr val="526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 objetos con muchos campos de forma legible.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8046720" y="3931920"/>
            <a:ext cx="3593592" cy="2240280"/>
          </a:xfrm>
          <a:prstGeom prst="roundRect">
            <a:avLst>
              <a:gd name="adj" fmla="val 6122"/>
            </a:avLst>
          </a:prstGeom>
          <a:solidFill>
            <a:srgbClr val="FFFFFF"/>
          </a:solidFill>
          <a:ln w="12700">
            <a:solidFill>
              <a:srgbClr val="DEDED1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5" name="Shape 33"/>
          <p:cNvSpPr/>
          <p:nvPr/>
        </p:nvSpPr>
        <p:spPr>
          <a:xfrm>
            <a:off x="8247888" y="4114800"/>
            <a:ext cx="347472" cy="347472"/>
          </a:xfrm>
          <a:prstGeom prst="ellipse">
            <a:avLst/>
          </a:prstGeom>
          <a:solidFill>
            <a:srgbClr val="315C3D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36" name="Text 34"/>
          <p:cNvSpPr txBox="1"/>
          <p:nvPr/>
        </p:nvSpPr>
        <p:spPr>
          <a:xfrm>
            <a:off x="8247888" y="411480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37" name="Text 35"/>
          <p:cNvSpPr txBox="1"/>
          <p:nvPr/>
        </p:nvSpPr>
        <p:spPr>
          <a:xfrm>
            <a:off x="8705088" y="41148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800" dirty="0">
                <a:solidFill>
                  <a:srgbClr val="183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Servicio transaccional</a:t>
            </a:r>
            <a:endParaRPr lang="en-US" sz="1800" dirty="0"/>
          </a:p>
        </p:txBody>
      </p:sp>
      <p:sp>
        <p:nvSpPr>
          <p:cNvPr id="38" name="Text 36"/>
          <p:cNvSpPr txBox="1"/>
          <p:nvPr/>
        </p:nvSpPr>
        <p:spPr>
          <a:xfrm>
            <a:off x="8275320" y="4645152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00" dirty="0">
                <a:solidFill>
                  <a:srgbClr val="1D3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@Transactional en los servicios: comprarVarios revierte todo el carrito si un pedido falla.</a:t>
            </a:r>
            <a:endParaRPr lang="en-US" sz="1300" dirty="0"/>
          </a:p>
        </p:txBody>
      </p:sp>
      <p:sp>
        <p:nvSpPr>
          <p:cNvPr id="39" name="Text 37"/>
          <p:cNvSpPr txBox="1"/>
          <p:nvPr/>
        </p:nvSpPr>
        <p:spPr>
          <a:xfrm>
            <a:off x="8275320" y="5468112"/>
            <a:ext cx="3154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00" dirty="0">
                <a:solidFill>
                  <a:srgbClr val="526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Mantiene la consistencia de las reservas, los pagos y el stock.</a:t>
            </a:r>
            <a:endParaRPr lang="en-US" sz="1300" dirty="0"/>
          </a:p>
        </p:txBody>
      </p:sp>
      <p:sp>
        <p:nvSpPr>
          <p:cNvPr id="4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4652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52675C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658368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200" dirty="0">
                <a:solidFill>
                  <a:srgbClr val="1029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 pruebas automáticas superadas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84048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200" b="1" kern="0" spc="200" dirty="0">
                <a:solidFill>
                  <a:srgbClr val="315C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PRUEBAS FUNCIONALES (RESUMEN)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3383280" cy="2377440"/>
          </a:xfrm>
          <a:prstGeom prst="roundRect">
            <a:avLst>
              <a:gd name="adj" fmla="val 7692"/>
            </a:avLst>
          </a:prstGeom>
          <a:solidFill>
            <a:srgbClr val="183A2B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5" name="Text 3"/>
          <p:cNvSpPr txBox="1"/>
          <p:nvPr/>
        </p:nvSpPr>
        <p:spPr>
          <a:xfrm>
            <a:off x="822960" y="169164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5200" dirty="0">
                <a:solidFill>
                  <a:srgbClr val="D9ECA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 / 11</a:t>
            </a:r>
            <a:endParaRPr lang="en-US" sz="52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65176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pruebas automáticas superadas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999232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00" dirty="0">
                <a:solidFill>
                  <a:srgbClr val="E5E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clases · 0 fallos · 0 errores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310128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200" dirty="0">
                <a:solidFill>
                  <a:srgbClr val="E5E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Maven · BUILD SUCCESS · 12 oct. 2026 · perfil dev (H2)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4114800"/>
            <a:ext cx="3383280" cy="2011680"/>
          </a:xfrm>
          <a:prstGeom prst="roundRect">
            <a:avLst>
              <a:gd name="adj" fmla="val 9091"/>
            </a:avLst>
          </a:prstGeom>
          <a:solidFill>
            <a:srgbClr val="ECF3DC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10" name="Text 8"/>
          <p:cNvSpPr txBox="1"/>
          <p:nvPr/>
        </p:nvSpPr>
        <p:spPr>
          <a:xfrm>
            <a:off x="822960" y="4206240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3800" dirty="0">
                <a:solidFill>
                  <a:srgbClr val="315C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15 ms</a:t>
            </a:r>
            <a:endParaRPr lang="en-US" sz="380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4919472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00" dirty="0">
                <a:solidFill>
                  <a:srgbClr val="1D3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mediana de la búsqueda con filtros y de la compra simulada; ninguna pasó de 30 ms (requisito: 3 s)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571500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100" dirty="0">
                <a:solidFill>
                  <a:srgbClr val="526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Medición local, un cliente y H2.</a:t>
            </a:r>
            <a:endParaRPr lang="en-US" sz="11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206240" y="1554480"/>
          <a:ext cx="7434072" cy="4483608"/>
        </p:xfrm>
        <a:graphic>
          <a:graphicData uri="http://schemas.openxmlformats.org/drawingml/2006/table">
            <a:tbl>
              <a:tblPr/>
              <a:tblGrid>
                <a:gridCol w="24231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85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2511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Clase de prueba</a:t>
                      </a:r>
                      <a:endParaRPr lang="en-US" sz="1200" dirty="0"/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3A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Pruebas</a:t>
                      </a:r>
                      <a:endParaRPr lang="en-US" sz="1200" dirty="0"/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3A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Qué comprueba</a:t>
                      </a:r>
                      <a:endParaRPr lang="en-US" sz="1200" dirty="0"/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3A2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183A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SazloopApplicationTests</a:t>
                      </a:r>
                      <a:endParaRPr lang="en-US" sz="1200" dirty="0"/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D3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200" dirty="0"/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D3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 contexto de Spring Boot inicia con la configuración y las entidades JPA.</a:t>
                      </a:r>
                      <a:endParaRPr lang="en-US" sz="1200" dirty="0"/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183A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SolicitudAfiliacionServiceTests</a:t>
                      </a:r>
                      <a:endParaRPr lang="en-US" sz="1200" dirty="0"/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D3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200" dirty="0"/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D3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 propietario envía un documento y otra cuenta no puede abrirlo.</a:t>
                      </a:r>
                      <a:endParaRPr lang="en-US" sz="1200" dirty="0"/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6868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183A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FlujoAfp2Tests</a:t>
                      </a:r>
                      <a:endParaRPr lang="en-US" sz="1200" dirty="0"/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D3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200" dirty="0"/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D3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Recorrido de documentos a recojo sin sobreventa ni segundo uso del código; cancelación con reembolso del 50 %; efectivo presencial; rechazo con motivo; perfil.</a:t>
                      </a:r>
                      <a:endParaRPr lang="en-US" sz="1200" dirty="0"/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3152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183A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ResolucionYSesionesTests</a:t>
                      </a:r>
                      <a:endParaRPr lang="en-US" sz="1200" dirty="0"/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D3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200" dirty="0"/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D3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Resolución de una solicitud en un solo paso; entrega desde el pago con comisión del 10 %; sesiones simultáneas de persona y administrador.</a:t>
                      </a:r>
                      <a:endParaRPr lang="en-US" sz="1200" dirty="0"/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183A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VigenciaYAvisosTests</a:t>
                      </a:r>
                      <a:endParaRPr lang="en-US" sz="1200" dirty="0"/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D3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200" dirty="0"/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D3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Suspensión por documento vencido y reactivación al renovar; aviso de cancelación con reembolso.</a:t>
                      </a:r>
                      <a:endParaRPr lang="en-US" sz="1200" dirty="0"/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183A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PortalEmpresaEtapasTests</a:t>
                      </a:r>
                      <a:endParaRPr lang="en-US" sz="1200" dirty="0"/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D3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200" dirty="0"/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D3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Las consultas del portal de empresa responden en cada etapa de la afiliación.</a:t>
                      </a:r>
                      <a:endParaRPr lang="en-US" sz="1200" dirty="0"/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183A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200" dirty="0"/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3D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1D3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1200" dirty="0"/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3D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endParaRPr lang="en-US" sz="1200" dirty="0"/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3D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4652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52675C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658368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200" dirty="0">
                <a:solidFill>
                  <a:srgbClr val="1029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Del inicio de sesión a la venta y al recojo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84048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200" b="1" kern="0" spc="200" dirty="0">
                <a:solidFill>
                  <a:srgbClr val="315C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DEMOSTRACIÓN DE UN PROCESO</a:t>
            </a:r>
            <a:endParaRPr lang="en-US" sz="1200" dirty="0"/>
          </a:p>
        </p:txBody>
      </p:sp>
      <p:pic>
        <p:nvPicPr>
          <p:cNvPr id="4" name="Image 0" descr="Inicio de sesión del consumido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1478858" cy="32004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600200"/>
            <a:ext cx="1478858" cy="3200400"/>
          </a:xfrm>
          <a:prstGeom prst="rect">
            <a:avLst/>
          </a:prstGeom>
          <a:ln w="12700">
            <a:solidFill>
              <a:srgbClr val="DEDED1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Shape 3"/>
          <p:cNvSpPr/>
          <p:nvPr/>
        </p:nvSpPr>
        <p:spPr>
          <a:xfrm>
            <a:off x="548640" y="4937760"/>
            <a:ext cx="310896" cy="310896"/>
          </a:xfrm>
          <a:prstGeom prst="ellipse">
            <a:avLst/>
          </a:prstGeom>
          <a:solidFill>
            <a:srgbClr val="183A2B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7" name="Text 4"/>
          <p:cNvSpPr txBox="1"/>
          <p:nvPr/>
        </p:nvSpPr>
        <p:spPr>
          <a:xfrm>
            <a:off x="548640" y="49377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932688" y="4937760"/>
            <a:ext cx="109481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200" dirty="0">
                <a:solidFill>
                  <a:srgbClr val="1D3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Inicio de sesión del consumidor</a:t>
            </a:r>
            <a:endParaRPr lang="en-US" sz="1200" dirty="0"/>
          </a:p>
        </p:txBody>
      </p:sp>
      <p:pic>
        <p:nvPicPr>
          <p:cNvPr id="9" name="Image 1" descr="Catálogo filtrado por distrito y precio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75598" y="1600200"/>
            <a:ext cx="1478858" cy="320040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2175598" y="1600200"/>
            <a:ext cx="1478858" cy="3200400"/>
          </a:xfrm>
          <a:prstGeom prst="rect">
            <a:avLst/>
          </a:prstGeom>
          <a:ln w="12700">
            <a:solidFill>
              <a:srgbClr val="DEDED1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1" name="Shape 7"/>
          <p:cNvSpPr/>
          <p:nvPr/>
        </p:nvSpPr>
        <p:spPr>
          <a:xfrm>
            <a:off x="2175598" y="4937760"/>
            <a:ext cx="310896" cy="310896"/>
          </a:xfrm>
          <a:prstGeom prst="ellipse">
            <a:avLst/>
          </a:prstGeom>
          <a:solidFill>
            <a:srgbClr val="183A2B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12" name="Text 8"/>
          <p:cNvSpPr txBox="1"/>
          <p:nvPr/>
        </p:nvSpPr>
        <p:spPr>
          <a:xfrm>
            <a:off x="2175598" y="49377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9"/>
          <p:cNvSpPr txBox="1"/>
          <p:nvPr/>
        </p:nvSpPr>
        <p:spPr>
          <a:xfrm>
            <a:off x="2559646" y="4937760"/>
            <a:ext cx="109481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200" dirty="0">
                <a:solidFill>
                  <a:srgbClr val="1D3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Catálogo filtrado por distrito y precio</a:t>
            </a:r>
            <a:endParaRPr lang="en-US" sz="1200" dirty="0"/>
          </a:p>
        </p:txBody>
      </p:sp>
      <p:pic>
        <p:nvPicPr>
          <p:cNvPr id="14" name="Image 2" descr="Ficha del pack: alérgenos, tamaños y precios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02556" y="1600200"/>
            <a:ext cx="1478858" cy="3200400"/>
          </a:xfrm>
          <a:prstGeom prst="rect">
            <a:avLst/>
          </a:prstGeom>
        </p:spPr>
      </p:pic>
      <p:sp>
        <p:nvSpPr>
          <p:cNvPr id="15" name="Shape 10"/>
          <p:cNvSpPr/>
          <p:nvPr/>
        </p:nvSpPr>
        <p:spPr>
          <a:xfrm>
            <a:off x="3802556" y="1600200"/>
            <a:ext cx="1478858" cy="3200400"/>
          </a:xfrm>
          <a:prstGeom prst="rect">
            <a:avLst/>
          </a:prstGeom>
          <a:ln w="12700">
            <a:solidFill>
              <a:srgbClr val="DEDED1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6" name="Shape 11"/>
          <p:cNvSpPr/>
          <p:nvPr/>
        </p:nvSpPr>
        <p:spPr>
          <a:xfrm>
            <a:off x="3802556" y="4937760"/>
            <a:ext cx="310896" cy="310896"/>
          </a:xfrm>
          <a:prstGeom prst="ellipse">
            <a:avLst/>
          </a:prstGeom>
          <a:solidFill>
            <a:srgbClr val="183A2B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17" name="Text 12"/>
          <p:cNvSpPr txBox="1"/>
          <p:nvPr/>
        </p:nvSpPr>
        <p:spPr>
          <a:xfrm>
            <a:off x="3802556" y="49377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8" name="Text 13"/>
          <p:cNvSpPr txBox="1"/>
          <p:nvPr/>
        </p:nvSpPr>
        <p:spPr>
          <a:xfrm>
            <a:off x="4186604" y="4937760"/>
            <a:ext cx="109481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200" dirty="0">
                <a:solidFill>
                  <a:srgbClr val="1D3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Ficha del pack: alérgenos, tamaños y precios</a:t>
            </a:r>
            <a:endParaRPr lang="en-US" sz="1200" dirty="0"/>
          </a:p>
        </p:txBody>
      </p:sp>
      <p:pic>
        <p:nvPicPr>
          <p:cNvPr id="19" name="Image 3" descr="Resumen y pago simulado con Yape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29515" y="1600200"/>
            <a:ext cx="1478858" cy="3200400"/>
          </a:xfrm>
          <a:prstGeom prst="rect">
            <a:avLst/>
          </a:prstGeom>
        </p:spPr>
      </p:pic>
      <p:sp>
        <p:nvSpPr>
          <p:cNvPr id="20" name="Shape 14"/>
          <p:cNvSpPr/>
          <p:nvPr/>
        </p:nvSpPr>
        <p:spPr>
          <a:xfrm>
            <a:off x="5429515" y="1600200"/>
            <a:ext cx="1478858" cy="3200400"/>
          </a:xfrm>
          <a:prstGeom prst="rect">
            <a:avLst/>
          </a:prstGeom>
          <a:ln w="12700">
            <a:solidFill>
              <a:srgbClr val="DEDED1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1" name="Shape 15"/>
          <p:cNvSpPr/>
          <p:nvPr/>
        </p:nvSpPr>
        <p:spPr>
          <a:xfrm>
            <a:off x="5429515" y="4937760"/>
            <a:ext cx="310896" cy="310896"/>
          </a:xfrm>
          <a:prstGeom prst="ellipse">
            <a:avLst/>
          </a:prstGeom>
          <a:solidFill>
            <a:srgbClr val="183A2B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22" name="Text 16"/>
          <p:cNvSpPr txBox="1"/>
          <p:nvPr/>
        </p:nvSpPr>
        <p:spPr>
          <a:xfrm>
            <a:off x="5429515" y="49377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3" name="Text 17"/>
          <p:cNvSpPr txBox="1"/>
          <p:nvPr/>
        </p:nvSpPr>
        <p:spPr>
          <a:xfrm>
            <a:off x="5813563" y="4937760"/>
            <a:ext cx="109481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200" dirty="0">
                <a:solidFill>
                  <a:srgbClr val="1D3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Resumen y pago simulado con Yape</a:t>
            </a:r>
            <a:endParaRPr lang="en-US" sz="1200" dirty="0"/>
          </a:p>
        </p:txBody>
      </p:sp>
      <p:pic>
        <p:nvPicPr>
          <p:cNvPr id="24" name="Image 4" descr="Compra confirmada: boleta y código de recojo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56473" y="1600200"/>
            <a:ext cx="1478858" cy="3200400"/>
          </a:xfrm>
          <a:prstGeom prst="rect">
            <a:avLst/>
          </a:prstGeom>
        </p:spPr>
      </p:pic>
      <p:sp>
        <p:nvSpPr>
          <p:cNvPr id="25" name="Shape 18"/>
          <p:cNvSpPr/>
          <p:nvPr/>
        </p:nvSpPr>
        <p:spPr>
          <a:xfrm>
            <a:off x="7056473" y="1600200"/>
            <a:ext cx="1478858" cy="3200400"/>
          </a:xfrm>
          <a:prstGeom prst="rect">
            <a:avLst/>
          </a:prstGeom>
          <a:ln w="12700">
            <a:solidFill>
              <a:srgbClr val="DEDED1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6" name="Shape 19"/>
          <p:cNvSpPr/>
          <p:nvPr/>
        </p:nvSpPr>
        <p:spPr>
          <a:xfrm>
            <a:off x="7056473" y="4937760"/>
            <a:ext cx="310896" cy="310896"/>
          </a:xfrm>
          <a:prstGeom prst="ellipse">
            <a:avLst/>
          </a:prstGeom>
          <a:solidFill>
            <a:srgbClr val="183A2B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27" name="Text 20"/>
          <p:cNvSpPr txBox="1"/>
          <p:nvPr/>
        </p:nvSpPr>
        <p:spPr>
          <a:xfrm>
            <a:off x="7056473" y="49377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28" name="Text 21"/>
          <p:cNvSpPr txBox="1"/>
          <p:nvPr/>
        </p:nvSpPr>
        <p:spPr>
          <a:xfrm>
            <a:off x="7440521" y="4937760"/>
            <a:ext cx="109481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200" dirty="0">
                <a:solidFill>
                  <a:srgbClr val="1D3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Compra confirmada: boleta y código de recojo</a:t>
            </a:r>
            <a:endParaRPr lang="en-US" sz="1200" dirty="0"/>
          </a:p>
        </p:txBody>
      </p:sp>
      <p:pic>
        <p:nvPicPr>
          <p:cNvPr id="29" name="Image 5" descr="El local valida el mismo código y confirma la entrega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683431" y="2057400"/>
            <a:ext cx="2956881" cy="2743200"/>
          </a:xfrm>
          <a:prstGeom prst="rect">
            <a:avLst/>
          </a:prstGeom>
        </p:spPr>
      </p:pic>
      <p:sp>
        <p:nvSpPr>
          <p:cNvPr id="30" name="Shape 22"/>
          <p:cNvSpPr/>
          <p:nvPr/>
        </p:nvSpPr>
        <p:spPr>
          <a:xfrm>
            <a:off x="8683431" y="2057400"/>
            <a:ext cx="2956881" cy="2743200"/>
          </a:xfrm>
          <a:prstGeom prst="rect">
            <a:avLst/>
          </a:prstGeom>
          <a:ln w="12700">
            <a:solidFill>
              <a:srgbClr val="DEDED1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1" name="Shape 23"/>
          <p:cNvSpPr/>
          <p:nvPr/>
        </p:nvSpPr>
        <p:spPr>
          <a:xfrm>
            <a:off x="8683431" y="4937760"/>
            <a:ext cx="310896" cy="310896"/>
          </a:xfrm>
          <a:prstGeom prst="ellipse">
            <a:avLst/>
          </a:prstGeom>
          <a:solidFill>
            <a:srgbClr val="183A2B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32" name="Text 24"/>
          <p:cNvSpPr txBox="1"/>
          <p:nvPr/>
        </p:nvSpPr>
        <p:spPr>
          <a:xfrm>
            <a:off x="8683431" y="49377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200" dirty="0"/>
          </a:p>
        </p:txBody>
      </p:sp>
      <p:sp>
        <p:nvSpPr>
          <p:cNvPr id="33" name="Text 25"/>
          <p:cNvSpPr txBox="1"/>
          <p:nvPr/>
        </p:nvSpPr>
        <p:spPr>
          <a:xfrm>
            <a:off x="9067479" y="4937760"/>
            <a:ext cx="2572833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200" dirty="0">
                <a:solidFill>
                  <a:srgbClr val="1D3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local valida el mismo código y confirma la entrega</a:t>
            </a:r>
            <a:endParaRPr lang="en-US" sz="1200" dirty="0"/>
          </a:p>
        </p:txBody>
      </p:sp>
      <p:sp>
        <p:nvSpPr>
          <p:cNvPr id="34" name="Text 26"/>
          <p:cNvSpPr txBox="1"/>
          <p:nvPr/>
        </p:nvSpPr>
        <p:spPr>
          <a:xfrm>
            <a:off x="548640" y="598932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200" dirty="0">
                <a:solidFill>
                  <a:srgbClr val="526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Capturas de la aplicación en ejecución (12 de octubre de 2026) con datos de prueba. Los pagos y las boletas son simulados y no tienen validez tributaria.</a:t>
            </a:r>
            <a:endParaRPr lang="en-US" sz="1200" dirty="0"/>
          </a:p>
        </p:txBody>
      </p:sp>
      <p:sp>
        <p:nvSpPr>
          <p:cNvPr id="3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4652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52675C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658368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200" dirty="0">
                <a:solidFill>
                  <a:srgbClr val="1029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 que costó y lo que sigue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84048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200" b="1" kern="0" spc="200" dirty="0">
                <a:solidFill>
                  <a:srgbClr val="315C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DIFICULTADES Y SIGUIENTES PASOS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0876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400" dirty="0">
                <a:solidFill>
                  <a:srgbClr val="183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Dificultades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6263640" y="1417320"/>
            <a:ext cx="5376672" cy="4846320"/>
          </a:xfrm>
          <a:prstGeom prst="roundRect">
            <a:avLst>
              <a:gd name="adj" fmla="val 3774"/>
            </a:avLst>
          </a:prstGeom>
          <a:solidFill>
            <a:srgbClr val="ECF3DC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6" name="Text 4"/>
          <p:cNvSpPr txBox="1"/>
          <p:nvPr/>
        </p:nvSpPr>
        <p:spPr>
          <a:xfrm>
            <a:off x="6537960" y="150876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400" dirty="0">
                <a:solidFill>
                  <a:srgbClr val="183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Siguientes pasos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548640" y="2139696"/>
            <a:ext cx="347472" cy="347472"/>
          </a:xfrm>
          <a:prstGeom prst="ellipse">
            <a:avLst/>
          </a:prstGeom>
          <a:solidFill>
            <a:srgbClr val="315C3D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8" name="Text 6"/>
          <p:cNvSpPr txBox="1"/>
          <p:nvPr/>
        </p:nvSpPr>
        <p:spPr>
          <a:xfrm>
            <a:off x="548640" y="213969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051560" y="2103120"/>
            <a:ext cx="4892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400" dirty="0">
                <a:solidFill>
                  <a:srgbClr val="1D3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Mantener la coherencia entre el informe, los diagramas y el código (31 entidades y 33 tablas).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48640" y="2962656"/>
            <a:ext cx="347472" cy="347472"/>
          </a:xfrm>
          <a:prstGeom prst="ellipse">
            <a:avLst/>
          </a:prstGeom>
          <a:solidFill>
            <a:srgbClr val="315C3D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11" name="Text 9"/>
          <p:cNvSpPr txBox="1"/>
          <p:nvPr/>
        </p:nvSpPr>
        <p:spPr>
          <a:xfrm>
            <a:off x="548640" y="296265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051560" y="2926080"/>
            <a:ext cx="4892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400" dirty="0">
                <a:solidFill>
                  <a:srgbClr val="1D3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Evitar la sobreventa de packs: bloqueos pesimistas y retención temporal del stock en el pago en efectivo.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48640" y="3785616"/>
            <a:ext cx="347472" cy="347472"/>
          </a:xfrm>
          <a:prstGeom prst="ellipse">
            <a:avLst/>
          </a:prstGeom>
          <a:solidFill>
            <a:srgbClr val="315C3D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14" name="Text 12"/>
          <p:cNvSpPr txBox="1"/>
          <p:nvPr/>
        </p:nvSpPr>
        <p:spPr>
          <a:xfrm>
            <a:off x="548640" y="378561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1051560" y="3749040"/>
            <a:ext cx="4892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400" dirty="0">
                <a:solidFill>
                  <a:srgbClr val="1D3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Suspender y reactivar locales según la vigencia de sus documentos, sin impedir entregar las reservas ya pagadas.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48640" y="4608576"/>
            <a:ext cx="347472" cy="347472"/>
          </a:xfrm>
          <a:prstGeom prst="ellipse">
            <a:avLst/>
          </a:prstGeom>
          <a:solidFill>
            <a:srgbClr val="315C3D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17" name="Text 15"/>
          <p:cNvSpPr txBox="1"/>
          <p:nvPr/>
        </p:nvSpPr>
        <p:spPr>
          <a:xfrm>
            <a:off x="548640" y="460857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051560" y="4572000"/>
            <a:ext cx="4892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400" dirty="0">
                <a:solidFill>
                  <a:srgbClr val="1D3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Manejar sesiones simultáneas de consumidor, local y administrador en un mismo navegador.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548640" y="5431536"/>
            <a:ext cx="347472" cy="347472"/>
          </a:xfrm>
          <a:prstGeom prst="ellipse">
            <a:avLst/>
          </a:prstGeom>
          <a:solidFill>
            <a:srgbClr val="315C3D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20" name="Text 18"/>
          <p:cNvSpPr txBox="1"/>
          <p:nvPr/>
        </p:nvSpPr>
        <p:spPr>
          <a:xfrm>
            <a:off x="548640" y="543153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1051560" y="5394960"/>
            <a:ext cx="4892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400" dirty="0">
                <a:solidFill>
                  <a:srgbClr val="1D3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Probar con H2 en desarrollo y ejecutar sobre MySQL, con un perfil de base de datos distinto para cada caso.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6537960" y="2139696"/>
            <a:ext cx="347472" cy="347472"/>
          </a:xfrm>
          <a:prstGeom prst="ellipse">
            <a:avLst/>
          </a:prstGeom>
          <a:solidFill>
            <a:srgbClr val="183A2B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23" name="Text 21"/>
          <p:cNvSpPr txBox="1"/>
          <p:nvPr/>
        </p:nvSpPr>
        <p:spPr>
          <a:xfrm>
            <a:off x="6537960" y="213969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7040880" y="2103120"/>
            <a:ext cx="4434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400" dirty="0">
                <a:solidFill>
                  <a:srgbClr val="1D3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Completar los módulos del backend y las interfaces del frontend, incluida la vista móvil de los portales internos.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6537960" y="2834640"/>
            <a:ext cx="347472" cy="347472"/>
          </a:xfrm>
          <a:prstGeom prst="ellipse">
            <a:avLst/>
          </a:prstGeom>
          <a:solidFill>
            <a:srgbClr val="183A2B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26" name="Text 24"/>
          <p:cNvSpPr txBox="1"/>
          <p:nvPr/>
        </p:nvSpPr>
        <p:spPr>
          <a:xfrm>
            <a:off x="6537960" y="283464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7040880" y="2798064"/>
            <a:ext cx="4434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400" dirty="0">
                <a:solidFill>
                  <a:srgbClr val="1D3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Integrar frontend, backend y base de datos, con pruebas funcionales y de integridad.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6537960" y="3529584"/>
            <a:ext cx="347472" cy="347472"/>
          </a:xfrm>
          <a:prstGeom prst="ellipse">
            <a:avLst/>
          </a:prstGeom>
          <a:solidFill>
            <a:srgbClr val="183A2B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29" name="Text 27"/>
          <p:cNvSpPr txBox="1"/>
          <p:nvPr/>
        </p:nvSpPr>
        <p:spPr>
          <a:xfrm>
            <a:off x="6537960" y="352958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7040880" y="3493008"/>
            <a:ext cx="4434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400" dirty="0">
                <a:solidFill>
                  <a:srgbClr val="1D3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Medir el rendimiento con usuarios simultáneos sobre MySQL.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6537960" y="4224528"/>
            <a:ext cx="347472" cy="347472"/>
          </a:xfrm>
          <a:prstGeom prst="ellipse">
            <a:avLst/>
          </a:prstGeom>
          <a:solidFill>
            <a:srgbClr val="183A2B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32" name="Text 30"/>
          <p:cNvSpPr txBox="1"/>
          <p:nvPr/>
        </p:nvSpPr>
        <p:spPr>
          <a:xfrm>
            <a:off x="6537960" y="422452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7040880" y="4187952"/>
            <a:ext cx="4434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400" dirty="0">
                <a:solidFill>
                  <a:srgbClr val="1D3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Integrar la entrega con empresas de delivery, prevista para el avance final.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6537960" y="4919472"/>
            <a:ext cx="347472" cy="347472"/>
          </a:xfrm>
          <a:prstGeom prst="ellipse">
            <a:avLst/>
          </a:prstGeom>
          <a:solidFill>
            <a:srgbClr val="183A2B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35" name="Text 33"/>
          <p:cNvSpPr txBox="1"/>
          <p:nvPr/>
        </p:nvSpPr>
        <p:spPr>
          <a:xfrm>
            <a:off x="6537960" y="4919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7040880" y="4882896"/>
            <a:ext cx="4434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400" dirty="0">
                <a:solidFill>
                  <a:srgbClr val="1D3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Investigar el registro de la ubicación mediante GPS.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6537960" y="5614416"/>
            <a:ext cx="347472" cy="347472"/>
          </a:xfrm>
          <a:prstGeom prst="ellipse">
            <a:avLst/>
          </a:prstGeom>
          <a:solidFill>
            <a:srgbClr val="183A2B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38" name="Text 36"/>
          <p:cNvSpPr txBox="1"/>
          <p:nvPr/>
        </p:nvSpPr>
        <p:spPr>
          <a:xfrm>
            <a:off x="6537960" y="561441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39" name="Text 37"/>
          <p:cNvSpPr txBox="1"/>
          <p:nvPr/>
        </p:nvSpPr>
        <p:spPr>
          <a:xfrm>
            <a:off x="7040880" y="5577840"/>
            <a:ext cx="4434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400" dirty="0">
                <a:solidFill>
                  <a:srgbClr val="1D3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Cerrar el informe y los anexos (Javadoc, análisis estático, pruebas funcionales y de penetración) y preparar la demostración final.</a:t>
            </a:r>
            <a:endParaRPr lang="en-US" sz="1400" dirty="0"/>
          </a:p>
        </p:txBody>
      </p:sp>
      <p:sp>
        <p:nvSpPr>
          <p:cNvPr id="4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4652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52675C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12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azloop">
  <a:themeElements>
    <a:clrScheme name="Sazloop">
      <a:dk1>
        <a:srgbClr val="1D3429"/>
      </a:dk1>
      <a:lt1>
        <a:srgbClr val="FFFDF7"/>
      </a:lt1>
      <a:dk2>
        <a:srgbClr val="183A2B"/>
      </a:dk2>
      <a:lt2>
        <a:srgbClr val="F9F5EC"/>
      </a:lt2>
      <a:accent1>
        <a:srgbClr val="315C3D"/>
      </a:accent1>
      <a:accent2>
        <a:srgbClr val="D9ECAB"/>
      </a:accent2>
      <a:accent3>
        <a:srgbClr val="EFAA79"/>
      </a:accent3>
      <a:accent4>
        <a:srgbClr val="C96A39"/>
      </a:accent4>
      <a:accent5>
        <a:srgbClr val="52675C"/>
      </a:accent5>
      <a:accent6>
        <a:srgbClr val="6F9A74"/>
      </a:accent6>
      <a:hlink>
        <a:srgbClr val="315C3D"/>
      </a:hlink>
      <a:folHlink>
        <a:srgbClr val="52675C"/>
      </a:folHlink>
    </a:clrScheme>
    <a:fontScheme name="Sazloop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1789</Words>
  <Application>Microsoft Office PowerPoint</Application>
  <PresentationFormat>Panorámica</PresentationFormat>
  <Paragraphs>354</Paragraphs>
  <Slides>12</Slides>
  <Notes>12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12</vt:i4>
      </vt:variant>
    </vt:vector>
  </HeadingPairs>
  <TitlesOfParts>
    <vt:vector size="16" baseType="lpstr">
      <vt:lpstr>Arial</vt:lpstr>
      <vt:lpstr>Calibri</vt:lpstr>
      <vt:lpstr>Cambria</vt:lpstr>
      <vt:lpstr>Sazloop</vt:lpstr>
      <vt:lpstr>Sazloop</vt:lpstr>
      <vt:lpstr>Alimentos aptos que se descartan</vt:lpstr>
      <vt:lpstr>Sazloop: packs sorpresa con recojo presencial</vt:lpstr>
      <vt:lpstr>Monolito modular por capas</vt:lpstr>
      <vt:lpstr>Del navegador a la base de datos</vt:lpstr>
      <vt:lpstr>31 clases de dominio en seis módulos</vt:lpstr>
      <vt:lpstr>33 tablas derivadas de las entidades</vt:lpstr>
      <vt:lpstr>Componentes y módulos del backend</vt:lpstr>
      <vt:lpstr>Seis patrones presentes en el código</vt:lpstr>
      <vt:lpstr>11 pruebas automáticas superadas</vt:lpstr>
      <vt:lpstr>Del inicio de sesión a la venta y al recojo</vt:lpstr>
      <vt:lpstr>Lo que costó y lo que sigue</vt:lpstr>
    </vt:vector>
  </TitlesOfParts>
  <Company>UTP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Sazloop — Segundo avance</dc:title>
  <dc:subject>Desarrollo Web Integrado · Proyecto N.º 91 — SalvemosLaComida</dc:subject>
  <dc:creator>Equipo Sazloop</dc:creator>
  <cp:lastModifiedBy>ALUMNO - EMANUEL ANTHONY ESPINOZA CASO</cp:lastModifiedBy>
  <cp:revision>2</cp:revision>
  <dcterms:created xsi:type="dcterms:W3CDTF">2026-10-12T21:18:19Z</dcterms:created>
  <dcterms:modified xsi:type="dcterms:W3CDTF">2026-10-12T21:50:45Z</dcterms:modified>
</cp:coreProperties>
</file>